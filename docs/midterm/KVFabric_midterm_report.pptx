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8" autoAdjust="0"/>
    <p:restoredTop sz="94680" autoAdjust="0"/>
  </p:normalViewPr>
  <p:slideViewPr>
    <p:cSldViewPr snapToGrid="0">
      <p:cViewPr varScale="1">
        <p:scale>
          <a:sx n="78" d="100"/>
          <a:sy n="78" d="100"/>
        </p:scale>
        <p:origin x="68" y="17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44433-9894-4477-9B1E-61BBF47033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5BC43-7485-4F6C-86B9-BF93B86F3C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>
            <a:fillRect/>
          </a:stretch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bg_main_theme"/>
          <p:cNvSpPr/>
          <p:nvPr userDrawn="1"/>
        </p:nvSpPr>
        <p:spPr>
          <a:xfrm>
            <a:off x="312912" y="0"/>
            <a:ext cx="85974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8597407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6369" t="-11784" r="-7157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40" y="1400452"/>
            <a:ext cx="8600440" cy="2709268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13840"/>
              <a:ext cx="8600440" cy="259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6089" y="2004459"/>
            <a:ext cx="7934411" cy="833633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6089" y="2838092"/>
            <a:ext cx="7934411" cy="49061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sp>
        <p:nvSpPr>
          <p:cNvPr id="16" name="矩形 15"/>
          <p:cNvSpPr/>
          <p:nvPr userDrawn="1"/>
        </p:nvSpPr>
        <p:spPr>
          <a:xfrm>
            <a:off x="722384" y="2004459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1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05" r="22916"/>
          <a:stretch>
            <a:fillRect/>
          </a:stretch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95433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9540000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0944" t="-11784" r="-378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39" y="825500"/>
            <a:ext cx="9539301" cy="4781549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58019"/>
              <a:ext cx="8600440" cy="2651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066007" y="2432050"/>
            <a:ext cx="8909844" cy="2471738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40" name="矩形 39"/>
          <p:cNvSpPr/>
          <p:nvPr userDrawn="1"/>
        </p:nvSpPr>
        <p:spPr>
          <a:xfrm>
            <a:off x="722384" y="1332206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1066006" y="1216332"/>
            <a:ext cx="8909844" cy="1021080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42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43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05" r="22916"/>
          <a:stretch>
            <a:fillRect/>
          </a:stretch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95433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9540000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0944" t="-11784" r="-378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39" y="2305227"/>
            <a:ext cx="9539301" cy="1928259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42955"/>
              <a:ext cx="8600440" cy="2566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08158" y="2774484"/>
            <a:ext cx="7726680" cy="833633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单击编辑小节标题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08158" y="3617738"/>
            <a:ext cx="7726680" cy="409918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727075" y="2800739"/>
            <a:ext cx="898525" cy="883066"/>
          </a:xfrm>
          <a:solidFill>
            <a:schemeClr val="accent3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grpSp>
        <p:nvGrpSpPr>
          <p:cNvPr id="41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42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main_board"/>
          <p:cNvGrpSpPr/>
          <p:nvPr userDrawn="1"/>
        </p:nvGrpSpPr>
        <p:grpSpPr>
          <a:xfrm>
            <a:off x="726439" y="365125"/>
            <a:ext cx="11016382" cy="5812879"/>
            <a:chOff x="685800" y="1400452"/>
            <a:chExt cx="8600440" cy="2709269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2" name="矩形 11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43366"/>
              <a:ext cx="8600440" cy="2666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1034" y="606265"/>
            <a:ext cx="10555326" cy="656061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970168" y="1283641"/>
            <a:ext cx="10546192" cy="4651081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38" name="矩形 37"/>
          <p:cNvSpPr/>
          <p:nvPr userDrawn="1"/>
        </p:nvSpPr>
        <p:spPr>
          <a:xfrm>
            <a:off x="722384" y="704310"/>
            <a:ext cx="144255" cy="4439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main_board"/>
          <p:cNvGrpSpPr/>
          <p:nvPr userDrawn="1"/>
        </p:nvGrpSpPr>
        <p:grpSpPr>
          <a:xfrm>
            <a:off x="726439" y="365125"/>
            <a:ext cx="11016382" cy="5812881"/>
            <a:chOff x="685800" y="1400452"/>
            <a:chExt cx="8600440" cy="2709270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2" name="矩形 11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43367"/>
              <a:ext cx="8600440" cy="2666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970168" y="711201"/>
            <a:ext cx="10546192" cy="5223522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</a:fld>
            <a:endParaRPr lang="zh-CN" altLang="en-US"/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" r="277"/>
          <a:stretch>
            <a:fillRect/>
          </a:stretch>
        </p:blipFill>
        <p:spPr>
          <a:xfrm>
            <a:off x="7677150" y="-2621"/>
            <a:ext cx="451485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bg_main_theme"/>
          <p:cNvSpPr/>
          <p:nvPr userDrawn="1"/>
        </p:nvSpPr>
        <p:spPr>
          <a:xfrm>
            <a:off x="956064" y="0"/>
            <a:ext cx="67782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504000" y="2951480"/>
            <a:ext cx="8597407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2182" t="-11784" r="-11344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1443990" y="1400452"/>
            <a:ext cx="6774180" cy="2709268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13840"/>
              <a:ext cx="8600440" cy="259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3639" y="2004459"/>
            <a:ext cx="5972261" cy="833633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63639" y="2838092"/>
            <a:ext cx="5972261" cy="49061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sp>
        <p:nvSpPr>
          <p:cNvPr id="16" name="矩形 15"/>
          <p:cNvSpPr/>
          <p:nvPr userDrawn="1"/>
        </p:nvSpPr>
        <p:spPr>
          <a:xfrm>
            <a:off x="1439934" y="2004459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jwc_logo"/>
          <p:cNvGrpSpPr/>
          <p:nvPr userDrawn="1"/>
        </p:nvGrpSpPr>
        <p:grpSpPr>
          <a:xfrm>
            <a:off x="1529041" y="6238395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61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7FAE3-B6A6-4F8C-A3EE-9B3A5A9AB4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53800" y="6356349"/>
            <a:ext cx="412750" cy="365125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5B74D221-F78E-4CE2-B90E-39C483F459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100" b="1">
                <a:solidFill>
                  <a:srgbClr val="083258"/>
                </a:solidFill>
                <a:latin typeface="微软雅黑" panose="020B0503020204020204" charset="-122"/>
              </a:rPr>
              <a:t>KVFabric：面向 LLM 推理服务的
KV Cache 生命周期管理</a:t>
            </a:r>
            <a:endParaRPr sz="31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089" y="3082567"/>
            <a:ext cx="7934411" cy="490619"/>
          </a:xfrm>
        </p:spPr>
        <p:txBody>
          <a:bodyPr wrap="square"/>
          <a:lstStyle/>
          <a:p>
            <a:r>
              <a:rPr sz="1400" b="0">
                <a:solidFill>
                  <a:srgbClr val="5E7088"/>
                </a:solidFill>
                <a:latin typeface="微软雅黑" panose="020B0503020204020204" charset="-122"/>
              </a:rPr>
              <a:t>中期汇报 | USTC OSH Project | 周家润 · 赵天翔 · 王允 | 2026.04.27</a:t>
            </a:r>
            <a:endParaRPr sz="1400" b="0">
              <a:solidFill>
                <a:srgbClr val="5E70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1078992" y="1600200"/>
            <a:ext cx="530352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400" b="1">
                <a:solidFill>
                  <a:srgbClr val="083258"/>
                </a:solidFill>
                <a:latin typeface="微软雅黑" panose="020B0503020204020204" charset="-122"/>
              </a:rPr>
              <a:t>01</a:t>
            </a:r>
            <a:endParaRPr sz="1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37360" y="16002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083258"/>
                </a:solidFill>
                <a:latin typeface="微软雅黑" panose="020B0503020204020204" charset="-122"/>
              </a:rPr>
              <a:t>What：项目做什么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8283C"/>
                </a:solidFill>
                <a:latin typeface="微软雅黑" panose="020B0503020204020204" charset="-122"/>
              </a:rPr>
              <a:t>面向 LLM serving 的 KVCache 生命周期管理</a:t>
            </a:r>
            <a:endParaRPr sz="11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22392" y="1600200"/>
            <a:ext cx="530352" cy="438912"/>
          </a:xfrm>
          <a:prstGeom prst="roundRect">
            <a:avLst/>
          </a:prstGeom>
          <a:solidFill>
            <a:srgbClr val="FCECEE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400" b="1">
                <a:solidFill>
                  <a:srgbClr val="AA2734"/>
                </a:solidFill>
                <a:latin typeface="微软雅黑" panose="020B0503020204020204" charset="-122"/>
              </a:rPr>
              <a:t>02</a:t>
            </a:r>
            <a:endParaRPr sz="1400" b="1">
              <a:solidFill>
                <a:srgbClr val="AA2734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80759" y="16002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AA2734"/>
                </a:solidFill>
                <a:latin typeface="微软雅黑" panose="020B0503020204020204" charset="-122"/>
              </a:rPr>
              <a:t>Why：为什么值得做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8283C"/>
                </a:solidFill>
                <a:latin typeface="微软雅黑" panose="020B0503020204020204" charset="-122"/>
              </a:rPr>
              <a:t>KVCache 占用显存、影响 TTFT/吞吐，并与调度强耦合</a:t>
            </a:r>
            <a:endParaRPr sz="11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78992" y="3200400"/>
            <a:ext cx="530352" cy="438912"/>
          </a:xfrm>
          <a:prstGeom prst="roundRect">
            <a:avLst/>
          </a:prstGeom>
          <a:solidFill>
            <a:srgbClr val="FFF7E0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400" b="1">
                <a:solidFill>
                  <a:srgbClr val="FFC617"/>
                </a:solidFill>
                <a:latin typeface="微软雅黑" panose="020B0503020204020204" charset="-122"/>
              </a:rPr>
              <a:t>03</a:t>
            </a:r>
            <a:endParaRPr sz="1400" b="1">
              <a:solidFill>
                <a:srgbClr val="FFC617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737360" y="32004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FFC617"/>
                </a:solidFill>
                <a:latin typeface="微软雅黑" panose="020B0503020204020204" charset="-122"/>
              </a:rPr>
              <a:t>How：怎么做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8283C"/>
                </a:solidFill>
                <a:latin typeface="微软雅黑" panose="020B0503020204020204" charset="-122"/>
              </a:rPr>
              <a:t>vLLM 原型 + 生命周期元数据 + 共享感知驱逐</a:t>
            </a:r>
            <a:endParaRPr sz="11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22392" y="3200400"/>
            <a:ext cx="530352" cy="438912"/>
          </a:xfrm>
          <a:prstGeom prst="roundRect">
            <a:avLst/>
          </a:prstGeom>
          <a:solidFill>
            <a:srgbClr val="E8F1F9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400" b="1">
                <a:solidFill>
                  <a:srgbClr val="1E6096"/>
                </a:solidFill>
                <a:latin typeface="微软雅黑" panose="020B0503020204020204" charset="-122"/>
              </a:rPr>
              <a:t>04</a:t>
            </a:r>
            <a:endParaRPr sz="1400" b="1">
              <a:solidFill>
                <a:srgbClr val="1E6096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80759" y="32004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1E6096"/>
                </a:solidFill>
                <a:latin typeface="微软雅黑" panose="020B0503020204020204" charset="-122"/>
              </a:rPr>
              <a:t>Now：当前进展</a:t>
            </a:r>
            <a:endParaRPr sz="1320" b="1">
              <a:solidFill>
                <a:srgbClr val="1E6096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18283C"/>
                </a:solidFill>
                <a:latin typeface="微软雅黑" panose="020B0503020204020204" charset="-122"/>
              </a:rPr>
              <a:t>基线跑通、源码边界明确、测试验证工具链已建立</a:t>
            </a:r>
            <a:endParaRPr sz="11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83258"/>
                </a:solidFill>
                <a:latin typeface="微软雅黑" panose="020B0503020204020204" charset="-122"/>
              </a:rPr>
              <a:t>WHAT：项目对象与目标</a:t>
            </a:r>
            <a:endParaRPr sz="30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158" y="3608213"/>
            <a:ext cx="7726680" cy="409918"/>
          </a:xfrm>
        </p:spPr>
        <p:txBody>
          <a:bodyPr wrap="square"/>
          <a:lstStyle/>
          <a:p>
            <a:r>
              <a:rPr sz="1400" b="0">
                <a:solidFill>
                  <a:srgbClr val="5E7088"/>
                </a:solidFill>
                <a:latin typeface="微软雅黑" panose="020B0503020204020204" charset="-122"/>
              </a:rPr>
              <a:t>我们具体在管什么、为什么叫“生命周期”</a:t>
            </a:r>
            <a:r>
              <a:rPr lang="zh-CN" sz="1400" b="0">
                <a:solidFill>
                  <a:srgbClr val="5E7088"/>
                </a:solidFill>
                <a:latin typeface="微软雅黑" panose="020B0503020204020204" charset="-122"/>
              </a:rPr>
              <a:t>？</a:t>
            </a:r>
            <a:endParaRPr lang="zh-CN" sz="1400" b="0">
              <a:solidFill>
                <a:srgbClr val="5E7088"/>
              </a:solidFill>
              <a:latin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ctr"/>
            <a:r>
              <a:rPr sz="2200" b="1">
                <a:solidFill>
                  <a:srgbClr val="083258"/>
                </a:solidFill>
                <a:latin typeface="微软雅黑" panose="020B0503020204020204" charset="-122"/>
              </a:rPr>
              <a:t>01</a:t>
            </a:r>
            <a:endParaRPr sz="22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83258"/>
                </a:solidFill>
                <a:latin typeface="微软雅黑" panose="020B0503020204020204" charset="-122"/>
              </a:rPr>
              <a:t>背景原理：LLM 推理中的 KVCache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60120" y="1332103"/>
            <a:ext cx="30632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083258"/>
                </a:solidFill>
                <a:latin typeface="微软雅黑" panose="020B0503020204020204" charset="-122"/>
              </a:rPr>
              <a:t>Prefill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模型一次性处理完整输入 prompt，并把每层注意力的 Key/Value 状态写入 KVCache。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43400" y="1332103"/>
            <a:ext cx="30632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AA2734"/>
                </a:solidFill>
                <a:latin typeface="微软雅黑" panose="020B0503020204020204" charset="-122"/>
              </a:rPr>
              <a:t>Decode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模型逐 token 生成输出，每一步都会读取历史 KVCache，避免重复计算全部上下文。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26679" y="1332103"/>
            <a:ext cx="30632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FFC617"/>
                </a:solidFill>
                <a:latin typeface="微软雅黑" panose="020B0503020204020204" charset="-122"/>
              </a:rPr>
              <a:t>KVCache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本质是“用显存保存历史注意力状态”，用空间换时间，是现代 LLM serving 的基础机制。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17320" y="3221990"/>
            <a:ext cx="16276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300" b="1">
                <a:solidFill>
                  <a:srgbClr val="083258"/>
                </a:solidFill>
                <a:latin typeface="微软雅黑" panose="020B0503020204020204" charset="-122"/>
              </a:rPr>
              <a:t>Prompt</a:t>
            </a:r>
            <a:endParaRPr sz="13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044952" y="3487166"/>
            <a:ext cx="61264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3221990"/>
            <a:ext cx="16276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300" b="1">
                <a:solidFill>
                  <a:srgbClr val="AA2734"/>
                </a:solidFill>
                <a:latin typeface="微软雅黑" panose="020B0503020204020204" charset="-122"/>
              </a:rPr>
              <a:t>Prefill 写 KV</a:t>
            </a:r>
            <a:endParaRPr sz="1300" b="1">
              <a:solidFill>
                <a:srgbClr val="AA2734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376672" y="3487166"/>
            <a:ext cx="61264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3221990"/>
            <a:ext cx="16276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300" b="1">
                <a:solidFill>
                  <a:srgbClr val="FFC617"/>
                </a:solidFill>
                <a:latin typeface="微软雅黑" panose="020B0503020204020204" charset="-122"/>
              </a:rPr>
              <a:t>Decode 读 KV</a:t>
            </a:r>
            <a:endParaRPr sz="1300" b="1">
              <a:solidFill>
                <a:srgbClr val="FFC617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708392" y="3487166"/>
            <a:ext cx="61264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80" y="3221990"/>
            <a:ext cx="162763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300" b="1">
                <a:solidFill>
                  <a:srgbClr val="1E6096"/>
                </a:solidFill>
                <a:latin typeface="微软雅黑" panose="020B0503020204020204" charset="-122"/>
              </a:rPr>
              <a:t>Output</a:t>
            </a:r>
            <a:endParaRPr sz="1300" b="1">
              <a:solidFill>
                <a:srgbClr val="1E6096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4343400"/>
            <a:ext cx="9921240" cy="1143000"/>
          </a:xfrm>
          <a:prstGeom prst="roundRect">
            <a:avLst/>
          </a:prstGeom>
          <a:solidFill>
            <a:srgbClr val="E8F1F9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8283C"/>
                </a:solidFill>
                <a:latin typeface="微软雅黑" panose="020B0503020204020204" charset="-122"/>
              </a:rPr>
              <a:t>• 如果多个请求有相同的系统提示、RAG 文档前缀或对话历史，理论上可以复用已经构建好的前缀 KVCache。</a:t>
            </a:r>
            <a:endParaRPr sz="13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endParaRPr sz="13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8283C"/>
                </a:solidFill>
                <a:latin typeface="微软雅黑" panose="020B0503020204020204" charset="-122"/>
              </a:rPr>
              <a:t>• 但 KVCache 既占显存，又牵涉请求调度、block 分配和驱逐回收，因此不能只把它看成普通缓存。</a:t>
            </a:r>
            <a:endParaRPr sz="13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83258"/>
                </a:solidFill>
                <a:latin typeface="微软雅黑" panose="020B0503020204020204" charset="-122"/>
              </a:rPr>
              <a:t>项目定位：把 KV block 当作生命周期对象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03300" y="1428115"/>
            <a:ext cx="31546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083258"/>
                </a:solidFill>
                <a:latin typeface="微软雅黑" panose="020B0503020204020204" charset="-122"/>
              </a:rPr>
              <a:t>研究对象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按 block/page 管理的 KVCache，覆盖创建、填充、共享、分叉、冷却、驱逐、重建。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86580" y="1428115"/>
            <a:ext cx="31546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AA2734"/>
                </a:solidFill>
                <a:latin typeface="微软雅黑" panose="020B0503020204020204" charset="-122"/>
              </a:rPr>
              <a:t>当前载体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以 vLLM 为基线和原型平台，先在 Python 控制面验证策略，</a:t>
            </a:r>
            <a:r>
              <a:rPr lang="zh-CN" sz="1120" b="0">
                <a:solidFill>
                  <a:srgbClr val="18283C"/>
                </a:solidFill>
                <a:latin typeface="微软雅黑" panose="020B0503020204020204" charset="-122"/>
              </a:rPr>
              <a:t>后续依</a:t>
            </a:r>
            <a:r>
              <a:rPr lang="zh-CN" sz="1120" b="0">
                <a:solidFill>
                  <a:srgbClr val="18283C"/>
                </a:solidFill>
                <a:latin typeface="微软雅黑" panose="020B0503020204020204" charset="-122"/>
              </a:rPr>
              <a:t>情况深入</a:t>
            </a: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 CUDA kernel。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69859" y="1428115"/>
            <a:ext cx="315468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FFC617"/>
                </a:solidFill>
                <a:latin typeface="微软雅黑" panose="020B0503020204020204" charset="-122"/>
              </a:rPr>
              <a:t>长期目标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形成可移植的 KV Cache scheduler / runtime，沉淀独立的元数据与策略设计。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3300" y="3284347"/>
            <a:ext cx="9921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83258"/>
                </a:solidFill>
                <a:latin typeface="微软雅黑" panose="020B0503020204020204" charset="-122"/>
              </a:rPr>
              <a:t>核心问题</a:t>
            </a:r>
            <a:endParaRPr sz="140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8283C"/>
                </a:solidFill>
                <a:latin typeface="微软雅黑" panose="020B0503020204020204" charset="-122"/>
              </a:rPr>
              <a:t>一个 KV block 是否值得保留，不应只取决于“最近有没有用过”。</a:t>
            </a:r>
            <a:endParaRPr sz="14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8283C"/>
                </a:solidFill>
                <a:latin typeface="微软雅黑" panose="020B0503020204020204" charset="-122"/>
              </a:rPr>
              <a:t>它还和共享人数、所在前缀位置、未来重用概率、被驱逐后的重算代价有关。</a:t>
            </a:r>
            <a:endParaRPr sz="14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8283C"/>
                </a:solidFill>
                <a:latin typeface="微软雅黑" panose="020B0503020204020204" charset="-122"/>
              </a:rPr>
              <a:t>KVFabric 希望把这些因素显式建模，并用于复用与驱逐决策。</a:t>
            </a:r>
            <a:endParaRPr sz="14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83258"/>
                </a:solidFill>
                <a:latin typeface="微软雅黑" panose="020B0503020204020204" charset="-122"/>
              </a:rPr>
              <a:t>WHY：研究意义与问题挑战</a:t>
            </a:r>
            <a:endParaRPr sz="30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400" b="0">
                <a:solidFill>
                  <a:srgbClr val="5E7088"/>
                </a:solidFill>
                <a:latin typeface="微软雅黑" panose="020B0503020204020204" charset="-122"/>
              </a:rPr>
              <a:t>从显存成本、现有机制局限和三者耦合解释为什么值得做</a:t>
            </a:r>
            <a:endParaRPr sz="1400" b="0">
              <a:solidFill>
                <a:srgbClr val="5E7088"/>
              </a:solidFill>
              <a:latin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ctr"/>
            <a:r>
              <a:rPr sz="2200" b="1">
                <a:solidFill>
                  <a:srgbClr val="083258"/>
                </a:solidFill>
                <a:latin typeface="微软雅黑" panose="020B0503020204020204" charset="-122"/>
              </a:rPr>
              <a:t>02</a:t>
            </a:r>
            <a:endParaRPr sz="22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83258"/>
                </a:solidFill>
                <a:latin typeface="微软雅黑" panose="020B0503020204020204" charset="-122"/>
              </a:rPr>
              <a:t>为什么 KVCache 会成为瓶颈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60120" y="1143000"/>
            <a:ext cx="9921240" cy="502920"/>
          </a:xfrm>
          <a:prstGeom prst="roundRect">
            <a:avLst/>
          </a:prstGeom>
          <a:solidFill>
            <a:srgbClr val="F5F8FC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700" b="1">
                <a:solidFill>
                  <a:srgbClr val="083258"/>
                </a:solidFill>
                <a:latin typeface="微软雅黑" panose="020B0503020204020204" charset="-122"/>
              </a:rPr>
              <a:t>单请求 KV 显存  ≈  2 × 层数 × KV头数 × head维度 × token数 × 每元素字节</a:t>
            </a:r>
            <a:endParaRPr sz="17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0120" y="1810512"/>
            <a:ext cx="9921240" cy="502920"/>
          </a:xfrm>
          <a:prstGeom prst="roundRect">
            <a:avLst/>
          </a:prstGeom>
          <a:solidFill>
            <a:srgbClr val="F5F8FC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700" b="1">
                <a:solidFill>
                  <a:srgbClr val="AA2734"/>
                </a:solidFill>
                <a:latin typeface="微软雅黑" panose="020B0503020204020204" charset="-122"/>
              </a:rPr>
              <a:t>总 KV 显存  ≈  所有并发请求 KV 显存之和</a:t>
            </a:r>
            <a:endParaRPr sz="1700" b="1">
              <a:solidFill>
                <a:srgbClr val="AA273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60120" y="2788920"/>
            <a:ext cx="2880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083258"/>
                </a:solidFill>
                <a:latin typeface="微软雅黑" panose="020B0503020204020204" charset="-122"/>
              </a:rPr>
              <a:t>上下文越长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token 数越大，KVCache 近似线性增长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2788920"/>
            <a:ext cx="2880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AA2734"/>
                </a:solidFill>
                <a:latin typeface="微软雅黑" panose="020B0503020204020204" charset="-122"/>
              </a:rPr>
              <a:t>并发越高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多个请求的 KVCache 会叠加竞争显存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580376" y="2788920"/>
            <a:ext cx="2880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FFC617"/>
                </a:solidFill>
                <a:latin typeface="微软雅黑" panose="020B0503020204020204" charset="-122"/>
              </a:rPr>
              <a:t>前缀越重复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不复用就会反复 prefill 同一段历史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120" y="4343400"/>
            <a:ext cx="9921240" cy="960120"/>
          </a:xfrm>
          <a:prstGeom prst="roundRect">
            <a:avLst/>
          </a:prstGeom>
          <a:solidFill>
            <a:srgbClr val="FFF7E0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8283C"/>
                </a:solidFill>
                <a:latin typeface="微软雅黑" panose="020B0503020204020204" charset="-122"/>
              </a:rPr>
              <a:t>• 因此 KVCache 优化不只是“省一点显存”，还会影响首 token 延迟、吞吐、并发容量和尾延迟。</a:t>
            </a:r>
            <a:endParaRPr sz="13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8283C"/>
                </a:solidFill>
                <a:latin typeface="微软雅黑" panose="020B0503020204020204" charset="-122"/>
              </a:rPr>
              <a:t>• 这也是我们选择 LLM serving 中 KVCache 管理作为 OSH 系统项目切入点的原因。</a:t>
            </a:r>
            <a:endParaRPr sz="130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83258"/>
                </a:solidFill>
                <a:latin typeface="微软雅黑" panose="020B0503020204020204" charset="-122"/>
              </a:rPr>
              <a:t>现有机制的基础与不足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115568"/>
          <a:ext cx="99669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88920"/>
                <a:gridCol w="2606040"/>
              </a:tblGrid>
              <a:tr h="76581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机制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已有价值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不足/空白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0832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切入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083258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PagedAttention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block/page 化管理，降低碎片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block 长期价值没有显式表达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把 block 作为生命周期对象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Prefix Caching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复用完全相同的 full-block 前缀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局部分叉、冷热混合下保留策略不足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记录共享链与分叉信息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LRU / ref_cnt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实现简单，工程稳定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不理解前缀位置、重算代价和未来复用潜力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83C"/>
                          </a:solidFill>
                          <a:latin typeface="微软雅黑" panose="020B0503020204020204" charset="-122"/>
                        </a:rPr>
                        <a:t>引入共享感知驱逐评分</a:t>
                      </a:r>
                      <a:endParaRPr sz="1200" b="0">
                        <a:solidFill>
                          <a:srgbClr val="18283C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60120" y="4526280"/>
            <a:ext cx="9966960" cy="777240"/>
          </a:xfrm>
          <a:prstGeom prst="roundRect">
            <a:avLst/>
          </a:prstGeom>
          <a:solidFill>
            <a:srgbClr val="E8F1F9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Aft>
                <a:spcPts val="300"/>
              </a:spcAft>
            </a:pPr>
            <a:r>
              <a:rPr sz="1280" b="0">
                <a:solidFill>
                  <a:srgbClr val="18283C"/>
                </a:solidFill>
                <a:latin typeface="微软雅黑" panose="020B0503020204020204" charset="-122"/>
              </a:rPr>
              <a:t>• 本项目是在 vLLM 已有 block/prefix cache 基础上补充生命周期视角</a:t>
            </a:r>
            <a:r>
              <a:rPr lang="zh-CN" sz="1280" b="0">
                <a:solidFill>
                  <a:srgbClr val="18283C"/>
                </a:solidFill>
                <a:latin typeface="微软雅黑" panose="020B0503020204020204" charset="-122"/>
              </a:rPr>
              <a:t>，实现更强大的系统性</a:t>
            </a:r>
            <a:r>
              <a:rPr lang="en-US" altLang="zh-CN" sz="1280" b="0">
                <a:solidFill>
                  <a:srgbClr val="18283C"/>
                </a:solidFill>
                <a:latin typeface="微软雅黑" panose="020B0503020204020204" charset="-122"/>
              </a:rPr>
              <a:t>KVcache</a:t>
            </a:r>
            <a:r>
              <a:rPr lang="zh-CN" altLang="en-US" sz="1280" b="0">
                <a:solidFill>
                  <a:srgbClr val="18283C"/>
                </a:solidFill>
                <a:latin typeface="微软雅黑" panose="020B0503020204020204" charset="-122"/>
              </a:rPr>
              <a:t>管理。</a:t>
            </a:r>
            <a:endParaRPr sz="128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280" b="0">
                <a:solidFill>
                  <a:srgbClr val="18283C"/>
                </a:solidFill>
                <a:latin typeface="微软雅黑" panose="020B0503020204020204" charset="-122"/>
              </a:rPr>
              <a:t>• 中期阶段重点是把源码边界、算法设计和验证工具链先做扎实。</a:t>
            </a:r>
            <a:endParaRPr sz="128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83258"/>
                </a:solidFill>
                <a:latin typeface="微软雅黑" panose="020B0503020204020204" charset="-122"/>
              </a:rPr>
              <a:t>核心挑战：分配、复用、驱逐强耦合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60120" y="12801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083258"/>
                </a:solidFill>
                <a:latin typeface="微软雅黑" panose="020B0503020204020204" charset="-122"/>
              </a:rPr>
              <a:t>分配 Allocation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block 粒度决定共享和回收的基本单位。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09560" y="123444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AA2734"/>
                </a:solidFill>
                <a:latin typeface="微软雅黑" panose="020B0503020204020204" charset="-122"/>
              </a:rPr>
              <a:t>复用 Reuse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共享前缀会改变 block 的引用关系和保留价值。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840" y="3639185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1320" b="1">
                <a:solidFill>
                  <a:srgbClr val="FFC617"/>
                </a:solidFill>
                <a:latin typeface="微软雅黑" panose="020B0503020204020204" charset="-122"/>
              </a:rPr>
              <a:t>驱逐 Eviction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>
              <a:spcBef>
                <a:spcPts val="200"/>
              </a:spcBef>
            </a:pPr>
            <a:r>
              <a:rPr sz="1120" b="0">
                <a:solidFill>
                  <a:srgbClr val="18283C"/>
                </a:solidFill>
                <a:latin typeface="微软雅黑" panose="020B0503020204020204" charset="-122"/>
              </a:rPr>
              <a:t>释放显存的同时，也可能破坏后续复用机会。</a:t>
            </a:r>
            <a:endParaRPr sz="11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931920" y="1810512"/>
            <a:ext cx="3931920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583680" y="2377440"/>
            <a:ext cx="1965960" cy="1261872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560320" y="2423160"/>
            <a:ext cx="1874520" cy="164592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5257800"/>
            <a:ext cx="992124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584" tIns="54864" rIns="82296" rtlCol="0" anchor="ctr"/>
          <a:lstStyle/>
          <a:p>
            <a:pPr algn="ctr"/>
            <a:r>
              <a:rPr sz="1300" b="1">
                <a:solidFill>
                  <a:srgbClr val="083258"/>
                </a:solidFill>
                <a:latin typeface="微软雅黑" panose="020B0503020204020204" charset="-122"/>
              </a:rPr>
              <a:t>所以本项目采用“生命周期管理”：统一记录 block 的创建、共享、冷却、驱逐和重建，而不是孤立优化某一步。</a:t>
            </a:r>
            <a:endParaRPr sz="13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tIns="36576" rIns="73152" bIns="36576" anchor="ctr"/>
          <a:lstStyle/>
          <a:p>
            <a:pPr algn="ctr"/>
            <a:r>
              <a:rPr sz="3000" b="1">
                <a:solidFill>
                  <a:srgbClr val="003B66"/>
                </a:solidFill>
                <a:latin typeface="微软雅黑" panose="020B0503020204020204" charset="-122"/>
              </a:rPr>
              <a:t>HOW：全生命周期管理设计</a:t>
            </a:r>
            <a:endParaRPr sz="30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ctr"/>
            <a:r>
              <a:rPr sz="2200" b="1">
                <a:solidFill>
                  <a:srgbClr val="083258"/>
                </a:solidFill>
                <a:latin typeface="微软雅黑" panose="020B0503020204020204" charset="-122"/>
              </a:rPr>
              <a:t>03</a:t>
            </a:r>
            <a:endParaRPr sz="22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技术路线：在 prefix cache 之上做生命周期管理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033271"/>
            <a:ext cx="9875520" cy="1943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36192"/>
            <a:ext cx="9802368" cy="338518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3B66"/>
                </a:solidFill>
                <a:latin typeface="微软雅黑" panose="020B0503020204020204" charset="-122"/>
              </a:rPr>
              <a:t>已有基础</a:t>
            </a:r>
            <a:r>
              <a:rPr lang="zh-CN" b="1">
                <a:solidFill>
                  <a:srgbClr val="003B66"/>
                </a:solidFill>
                <a:latin typeface="微软雅黑" panose="020B0503020204020204" charset="-122"/>
              </a:rPr>
              <a:t>：</a:t>
            </a:r>
            <a:endParaRPr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vLLM 已经提供基于 full-block hash 的 prefix caching，能够复用</a:t>
            </a:r>
            <a:r>
              <a:rPr lang="zh-CN" sz="1600" b="0">
                <a:solidFill>
                  <a:srgbClr val="10273D"/>
                </a:solidFill>
                <a:latin typeface="微软雅黑" panose="020B0503020204020204" charset="-122"/>
              </a:rPr>
              <a:t>完全相同的</a:t>
            </a: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连续公共前缀。我们在现有缓存机制上</a:t>
            </a:r>
            <a:r>
              <a:rPr lang="zh-CN" sz="1600" b="0">
                <a:solidFill>
                  <a:srgbClr val="10273D"/>
                </a:solidFill>
                <a:latin typeface="微软雅黑" panose="020B0503020204020204" charset="-122"/>
              </a:rPr>
              <a:t>实现</a:t>
            </a: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更清晰的管理层。</a:t>
            </a:r>
            <a:endParaRPr sz="16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3B66"/>
                </a:solidFill>
                <a:latin typeface="微软雅黑" panose="020B0503020204020204" charset="-122"/>
              </a:rPr>
              <a:t>问题收敛</a:t>
            </a:r>
            <a:r>
              <a:rPr lang="zh-CN" b="1">
                <a:solidFill>
                  <a:srgbClr val="003B66"/>
                </a:solidFill>
                <a:latin typeface="微软雅黑" panose="020B0503020204020204" charset="-122"/>
              </a:rPr>
              <a:t>：</a:t>
            </a:r>
            <a:endParaRPr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中期阶段将问题</a:t>
            </a:r>
            <a:r>
              <a:rPr lang="zh-CN" sz="1600" b="0">
                <a:solidFill>
                  <a:srgbClr val="10273D"/>
                </a:solidFill>
                <a:latin typeface="微软雅黑" panose="020B0503020204020204" charset="-122"/>
              </a:rPr>
              <a:t>主要有以下两个问题</a:t>
            </a: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：哪些 KV block 在未来仍有复用价值；当显存紧张时，怎样在不破坏正确性的前提下优先回收低价值 block。</a:t>
            </a:r>
            <a:endParaRPr sz="16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3B66"/>
                </a:solidFill>
                <a:latin typeface="微软雅黑" panose="020B0503020204020204" charset="-122"/>
              </a:rPr>
              <a:t>设计主线</a:t>
            </a:r>
            <a:r>
              <a:rPr lang="zh-CN" b="1">
                <a:solidFill>
                  <a:srgbClr val="003B66"/>
                </a:solidFill>
                <a:latin typeface="微软雅黑" panose="020B0503020204020204" charset="-122"/>
              </a:rPr>
              <a:t>：</a:t>
            </a:r>
            <a:endParaRPr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KVFabric 通过生命周期元数据、Prefix Family 关系和驱逐后反馈，</a:t>
            </a:r>
            <a:r>
              <a:rPr lang="zh-CN" sz="1600" b="0">
                <a:solidFill>
                  <a:srgbClr val="10273D"/>
                </a:solidFill>
                <a:latin typeface="微软雅黑" panose="020B0503020204020204" charset="-122"/>
              </a:rPr>
              <a:t>设计出完整的</a:t>
            </a:r>
            <a:r>
              <a:rPr sz="1600" b="0">
                <a:solidFill>
                  <a:srgbClr val="10273D"/>
                </a:solidFill>
                <a:latin typeface="微软雅黑" panose="020B0503020204020204" charset="-122"/>
              </a:rPr>
              <a:t>可观测、可验证、可逐步接入调度的管理流程。</a:t>
            </a:r>
            <a:endParaRPr sz="160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vLLM 控制面的改造边界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36192"/>
            <a:ext cx="9802368" cy="4093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KVCacheManager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记录 prefix lookup 的结果，包括命中 token 数、需要重新计算的 token 数以及请求级生命周期信息。这个位置连接调度输出和缓存分配，是观察复用收益的入口。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BlockPool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维护 block 的分配、释放、free queue 和 prefix cache map，是冷却分层和候选驱逐最自然的接入点。初期只增加 side table 和事件记录，不改变物理 KV 语义。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Scheduler 与 Metrics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Scheduler 后续只接收轻量 lifecycle hint，例如显存水位和 family 信息；Metrics/Stats 负责输出 JSONL 事件、prefix hit、latency 和 regret 相关摘要。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正确性边界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中期暂不修改 attention kernel、slot mapping 和 worker 已下发 block table。策略可</a:t>
            </a:r>
            <a:r>
              <a:rPr lang="zh-CN" sz="1400" b="0">
                <a:solidFill>
                  <a:srgbClr val="10273D"/>
                </a:solidFill>
                <a:latin typeface="微软雅黑" panose="020B0503020204020204" charset="-122"/>
              </a:rPr>
              <a:t>选择</a:t>
            </a: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关闭</a:t>
            </a:r>
            <a:r>
              <a:rPr lang="zh-CN" sz="1400" b="0">
                <a:solidFill>
                  <a:srgbClr val="10273D"/>
                </a:solidFill>
                <a:latin typeface="微软雅黑" panose="020B0503020204020204" charset="-122"/>
              </a:rPr>
              <a:t>开启</a:t>
            </a: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，可回退到 vLLM 原始路径。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603504"/>
            <a:ext cx="10552176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整体算法原理图：请求、缓存、策略与反馈闭环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091692"/>
            <a:ext cx="9966960" cy="248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charset="-122"/>
            </a:endParaRPr>
          </a:p>
        </p:txBody>
      </p:sp>
      <p:pic>
        <p:nvPicPr>
          <p:cNvPr id="4" name="图片 3" descr="kvfabric_lifecycle_overall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490" y="1106170"/>
            <a:ext cx="9792335" cy="4896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设计一：三层对象模型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033271"/>
            <a:ext cx="987552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5D6F86"/>
                </a:solidFill>
                <a:latin typeface="微软雅黑" panose="020B0503020204020204" charset="-122"/>
              </a:rPr>
              <a:t>仅用 block_id 或 LRU 顺序很难解释共享前缀的长期价值，因此需要更高层的对象描述。</a:t>
            </a:r>
            <a:endParaRPr sz="1150" b="0">
              <a:solidFill>
                <a:srgbClr val="5D6F8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36192"/>
            <a:ext cx="9802368" cy="38773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500" b="1">
                <a:solidFill>
                  <a:srgbClr val="003B66"/>
                </a:solidFill>
                <a:latin typeface="微软雅黑" panose="020B0503020204020204" charset="-122"/>
              </a:rPr>
              <a:t>①</a:t>
            </a: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Block 层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记录单个物理 KV block 的状态，例如 ref_cnt、hit_count、last_access、prefix_depth 和 recompute_cost。它回答“这个 block 当前是否可复用、可冷却、可驱逐”。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500" b="1">
                <a:solidFill>
                  <a:srgbClr val="003B66"/>
                </a:solidFill>
                <a:latin typeface="微软雅黑" panose="020B0503020204020204" charset="-122"/>
              </a:rPr>
              <a:t>②</a:t>
            </a: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Prefix Family 层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用 parent/child hash、branch_factor 和 family_heat 描述共享前缀后的分叉结构。位于公共前缀、支撑多个分支的 block 应该比一次性深尾 block 获得更高保护。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500" b="1">
                <a:solidFill>
                  <a:srgbClr val="003B66"/>
                </a:solidFill>
                <a:latin typeface="微软雅黑" panose="020B0503020204020204" charset="-122"/>
              </a:rPr>
              <a:t>③</a:t>
            </a: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Request 层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记录请求类别、cached tokens、computed tokens 和进入系统时的显存压力。不同请求对延迟、吞吐和缓存复用的需求不同，后续可作为调度 hint。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500" b="1">
                <a:solidFill>
                  <a:srgbClr val="003B66"/>
                </a:solidFill>
                <a:latin typeface="微软雅黑" panose="020B0503020204020204" charset="-122"/>
              </a:rPr>
              <a:t>设计含义</a:t>
            </a:r>
            <a:endParaRPr sz="150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0273D"/>
                </a:solidFill>
                <a:latin typeface="微软雅黑" panose="020B0503020204020204" charset="-122"/>
              </a:rPr>
              <a:t>这三层对象共同决定 block 的保留价值：最近访问只是其中一项，前缀位置、共享程度、分叉结构和重算代价同样重要。</a:t>
            </a:r>
            <a:endParaRPr sz="140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设计二：生命周期状态与更新时机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54480"/>
            <a:ext cx="9802368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60" b="1">
                <a:solidFill>
                  <a:srgbClr val="003B66"/>
                </a:solidFill>
                <a:latin typeface="微软雅黑" panose="020B0503020204020204" charset="-122"/>
              </a:rPr>
              <a:t>状态主线：Planned -&gt; MutableTail -&gt; SealedFull -&gt; Indexed -&gt; SharedActive -&gt; CoolingHot / CoolingWarm -&gt; Candidate -&gt; Evicted / Rebuilt</a:t>
            </a:r>
            <a:endParaRPr sz="136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2103120"/>
            <a:ext cx="9802368" cy="3210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①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创建与共享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请求进入系统时先估计所需 block；正在写入的尾块保持私有，只有写满并具有稳定 hash 的 full block 才进入 prefix cache。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②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释放与冷却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ref_cnt 归零不代表马上没有价值。共享主干可以进入 CoolingHot，普通可复用块进入 CoolingWarm，低价值深尾更早进入 Candidate。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③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驱逐与回收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显存压力升高时，系统只从语义安全的候选集合中选择 victim，避免影响 active request，也不改变 worker 已持有的 block table。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④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重建与反馈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如果某个被驱逐的 hash 很快重新出现，说明上次可能低估了它的价值。系统记录 eviction_regret，用于修正同类 block 或同一 family 的后续权重。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设计三：水位控制与二阶段驱逐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033271"/>
            <a:ext cx="987552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5D6F86"/>
                </a:solidFill>
                <a:latin typeface="微软雅黑" panose="020B0503020204020204" charset="-122"/>
              </a:rPr>
              <a:t>策略需要可解释、低开销、可回退，因此只在压力出现时对局部候选进行选择。</a:t>
            </a:r>
            <a:endParaRPr sz="1150" b="0">
              <a:solidFill>
                <a:srgbClr val="5D6F8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17904"/>
            <a:ext cx="980236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RetainScore = Heat + Share + Reuse + PrefixPos + RecomputeCost + BranchValue - Replaceability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2057400"/>
            <a:ext cx="9802368" cy="35788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显存水位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资源充足时只记录事件和指标；进入 ORANGE/RED 等压力区间后，再启动候选筛选。这样可以避免在低压力下频繁做复杂决策。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候选粗筛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粗筛只考虑 ref_cnt 为 0、状态安全、不会影响当前请求的 CoolingWarm 或 Candidate block。候选集合较小，便于控制管理开销。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价值精算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对候选 block 计算保留价值。公共前缀靠前、共享人数多、历史命中稳定、重算代价高的 block 倾向保留；长尾独占、冷却时间长、重建代价低的 block 倾向回收。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反馈修正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若驱逐后短时间内发生同 hash 重建，系统记录为 regretful eviction。后续策略会提高同类 family 或 block 类型的保护权重。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1353312"/>
            <a:ext cx="10195560" cy="43159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67512"/>
            <a:ext cx="91440" cy="384048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566928"/>
            <a:ext cx="1024128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>
                <a:solidFill>
                  <a:srgbClr val="003B66"/>
                </a:solidFill>
                <a:latin typeface="微软雅黑" panose="020B0503020204020204" charset="-122"/>
              </a:rPr>
              <a:t>阶段路线：从观测到策略逐步落地</a:t>
            </a:r>
            <a:endParaRPr sz="250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033271"/>
            <a:ext cx="987552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>
                <a:solidFill>
                  <a:srgbClr val="5D6F86"/>
                </a:solidFill>
                <a:latin typeface="微软雅黑" panose="020B0503020204020204" charset="-122"/>
              </a:rPr>
              <a:t>第三部分最终对应后续实现任务，每一层都能用现有 experiments 结构进行验证。</a:t>
            </a:r>
            <a:endParaRPr sz="1150" b="0">
              <a:solidFill>
                <a:srgbClr val="5D6F8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1536192"/>
            <a:ext cx="9802368" cy="39966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①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观测层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接入 side table 和 JSONL events，不改变 vLLM 行为。目标是稳定记录 prefix hit、block 状态转移、KV usage 和基础延迟指标。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②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冷却层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在 ref_cnt 归零后区分 CoolingHot、CoolingWarm 和 Candidate。重点验证共享主干是否能被更稳定保留，深尾 block 是否能更早进入候选。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③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策略层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引入 family-aware 二阶段驱逐，用 RetainScore 选择 victim，并记录 regretful eviction。该阶段可与原始 vLLM 做正式 A/B 对照。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sz="1460" b="1">
                <a:solidFill>
                  <a:srgbClr val="003B66"/>
                </a:solidFill>
                <a:latin typeface="微软雅黑" panose="020B0503020204020204" charset="-122"/>
              </a:rPr>
              <a:t>④</a:t>
            </a:r>
            <a:r>
              <a:rPr sz="1460" b="1">
                <a:solidFill>
                  <a:srgbClr val="003B66"/>
                </a:solidFill>
                <a:latin typeface="微软雅黑" panose="020B0503020204020204" charset="-122"/>
              </a:rPr>
              <a:t>调度协同</a:t>
            </a:r>
            <a:endParaRPr sz="1460" b="1">
              <a:solidFill>
                <a:srgbClr val="003B66"/>
              </a:solidFill>
              <a:latin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360" b="0">
                <a:solidFill>
                  <a:srgbClr val="10273D"/>
                </a:solidFill>
                <a:latin typeface="微软雅黑" panose="020B0503020204020204" charset="-122"/>
              </a:rPr>
              <a:t>Scheduler 接收 lifecycle hint，在显存压力较高时尝试 family-aware batching 或 lookahead 调整。该阶段作为后续扩展，不影响前两层验证闭环。</a:t>
            </a:r>
            <a:endParaRPr sz="1360" b="0">
              <a:solidFill>
                <a:srgbClr val="10273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5720" tIns="27432" rIns="45720" bIns="27432" anchor="ctr"/>
          <a:lstStyle/>
          <a:p>
            <a:pPr algn="ctr"/>
            <a:r>
              <a:rPr sz="3000" b="1">
                <a:solidFill>
                  <a:srgbClr val="003B66"/>
                </a:solidFill>
                <a:latin typeface="微软雅黑" panose="020B0503020204020204" charset="-122"/>
              </a:rPr>
              <a:t>NOW：当前进展与落地路径</a:t>
            </a:r>
            <a:endParaRPr sz="30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5720" tIns="27432" rIns="45720" bIns="27432" anchor="ctr"/>
          <a:lstStyle/>
          <a:p>
            <a:pPr algn="ctr"/>
            <a:r>
              <a:rPr sz="1700" b="0">
                <a:solidFill>
                  <a:srgbClr val="6D7F95"/>
                </a:solidFill>
                <a:latin typeface="微软雅黑" panose="020B0503020204020204" charset="-122"/>
              </a:rPr>
              <a:t>基线、实验结构、源码边界和生命周期设计已经收束为可推进路线</a:t>
            </a:r>
            <a:endParaRPr sz="1400" b="0">
              <a:solidFill>
                <a:srgbClr val="5E7088"/>
              </a:solidFill>
              <a:latin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ctr"/>
            <a:r>
              <a:rPr sz="2200" b="1">
                <a:solidFill>
                  <a:srgbClr val="083258"/>
                </a:solidFill>
                <a:latin typeface="微软雅黑" panose="020B0503020204020204" charset="-122"/>
              </a:rPr>
              <a:t>04</a:t>
            </a:r>
            <a:endParaRPr sz="22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27432" rIns="45720" bIns="27432" anchor="ctr"/>
          <a:lstStyle/>
          <a:p>
            <a:pPr algn="l"/>
            <a:r>
              <a:rPr sz="2400" b="1">
                <a:solidFill>
                  <a:srgbClr val="003B66"/>
                </a:solidFill>
                <a:latin typeface="微软雅黑" panose="020B0503020204020204" charset="-122"/>
              </a:rPr>
              <a:t>当前进展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725295"/>
          <a:ext cx="9921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343400"/>
                <a:gridCol w="4069080"/>
              </a:tblGrid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方向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当前已经形成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下一步推进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基础服务性能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vLLM 标准基础服务性能已完成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沉淀为 benchmarks/baseline_matrix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实验结构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experiments 已分为 prebenchmark_validation / benchmarks / paper_reproductions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把生命周期策略接入统一实验矩阵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生命周期设计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从 KeepScore 扩展为状态机、family、冷却分层、重建反馈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先做 L0 观测，再推进 L1/L2 策略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源码边界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明确 Scheduler / KVCacheManager / BlockPool / Metrics 为控制面接入点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暂</a:t>
                      </a:r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以可开关 patch 和 JSONL 日志方式落地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27432" rIns="45720" bIns="27432" anchor="ctr"/>
          <a:lstStyle/>
          <a:p>
            <a:pPr algn="l"/>
            <a:r>
              <a:rPr sz="2400" b="1">
                <a:solidFill>
                  <a:srgbClr val="003B66"/>
                </a:solidFill>
                <a:latin typeface="微软雅黑" panose="020B0503020204020204" charset="-122"/>
              </a:rPr>
              <a:t>测试验证工具链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4405" y="12623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Config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模型/负载/开关</a:t>
            </a:r>
            <a:endParaRPr sz="118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486025" y="1655572"/>
            <a:ext cx="365759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74645" y="127000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Serve</a:t>
            </a:r>
            <a:endParaRPr sz="1320" b="1">
              <a:solidFill>
                <a:srgbClr val="AA2734"/>
              </a:solidFill>
              <a:latin typeface="微软雅黑" panose="020B0503020204020204" charset="-122"/>
            </a:endParaRPr>
          </a:p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vLLM API 服务</a:t>
            </a:r>
            <a:endParaRPr sz="118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429125" y="1655572"/>
            <a:ext cx="365760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63465" y="12623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Run</a:t>
            </a:r>
            <a:endParaRPr sz="1320" b="1">
              <a:solidFill>
                <a:srgbClr val="FFC617"/>
              </a:solidFill>
              <a:latin typeface="微软雅黑" panose="020B0503020204020204" charset="-122"/>
            </a:endParaRPr>
          </a:p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批量请求</a:t>
            </a:r>
            <a:endParaRPr sz="118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395085" y="1655572"/>
            <a:ext cx="365759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40854" y="12623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Collect</a:t>
            </a:r>
            <a:endParaRPr sz="1320" b="1">
              <a:solidFill>
                <a:srgbClr val="1E6096"/>
              </a:solidFill>
              <a:latin typeface="微软雅黑" panose="020B0503020204020204" charset="-122"/>
            </a:endParaRPr>
          </a:p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metrics/raw/log</a:t>
            </a:r>
            <a:endParaRPr sz="118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361044" y="1655572"/>
            <a:ext cx="365760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2525" y="126238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Summarize</a:t>
            </a:r>
            <a:endParaRPr sz="1320" b="1">
              <a:solidFill>
                <a:srgbClr val="083258"/>
              </a:solidFill>
              <a:latin typeface="微软雅黑" panose="020B0503020204020204" charset="-122"/>
            </a:endParaRPr>
          </a:p>
          <a:p>
            <a:pPr algn="ctr"/>
            <a:r>
              <a:rPr sz="1180" b="1">
                <a:solidFill>
                  <a:srgbClr val="003B66"/>
                </a:solidFill>
                <a:latin typeface="微软雅黑" panose="020B0503020204020204" charset="-122"/>
              </a:rPr>
              <a:t>表格与摘要</a:t>
            </a:r>
            <a:endParaRPr sz="1180" b="1">
              <a:solidFill>
                <a:srgbClr val="003B66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54405" y="2542540"/>
          <a:ext cx="9921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9476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实验层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验证作用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主要输出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prebenchmark_validation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验证 prefix caching、日志、side table、状态转移是否可观测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env / config / raw_outputs / metrics / summary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benchmarks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在基础服务性能完成后做 A/B，对比原始 vLLM 与 KVFabric L1/L2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TTFT / TPOT / throughput / prefix hit / regret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paper_reproductions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后续承接质量护栏和横向比较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accuracy / consistency / 质量下降边界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54125" y="4655820"/>
            <a:ext cx="9621520" cy="113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Aft>
                <a:spcPts val="300"/>
              </a:spcAft>
            </a:pPr>
            <a:r>
              <a:rPr lang="zh-CN" sz="1600">
                <a:solidFill>
                  <a:srgbClr val="003B66"/>
                </a:solidFill>
                <a:latin typeface="微软雅黑" panose="020B0503020204020204" charset="-122"/>
                <a:sym typeface="+mn-ea"/>
              </a:rPr>
              <a:t>①</a:t>
            </a:r>
            <a:r>
              <a:rPr sz="1600">
                <a:solidFill>
                  <a:srgbClr val="003B66"/>
                </a:solidFill>
                <a:latin typeface="微软雅黑" panose="020B0503020204020204" charset="-122"/>
                <a:sym typeface="+mn-ea"/>
              </a:rPr>
              <a:t>Qwen3.5-2B 初步验证用于说明工具链可运行、prefix caching 可观察、结果目录可复查。</a:t>
            </a:r>
            <a:endParaRPr sz="1600" b="0">
              <a:solidFill>
                <a:srgbClr val="18283C"/>
              </a:solidFill>
              <a:latin typeface="微软雅黑" panose="020B0503020204020204" charset="-122"/>
            </a:endParaRPr>
          </a:p>
          <a:p>
            <a:pPr algn="l"/>
            <a:endParaRPr sz="1600">
              <a:solidFill>
                <a:srgbClr val="003B66"/>
              </a:solidFill>
              <a:latin typeface="微软雅黑" panose="020B0503020204020204" charset="-122"/>
              <a:sym typeface="+mn-ea"/>
            </a:endParaRPr>
          </a:p>
          <a:p>
            <a:pPr algn="l"/>
            <a:r>
              <a:rPr lang="zh-CN" sz="1600">
                <a:solidFill>
                  <a:srgbClr val="003B66"/>
                </a:solidFill>
                <a:latin typeface="微软雅黑" panose="020B0503020204020204" charset="-122"/>
                <a:sym typeface="+mn-ea"/>
              </a:rPr>
              <a:t>②</a:t>
            </a:r>
            <a:r>
              <a:rPr sz="1600">
                <a:solidFill>
                  <a:srgbClr val="003B66"/>
                </a:solidFill>
                <a:latin typeface="微软雅黑" panose="020B0503020204020204" charset="-122"/>
                <a:sym typeface="+mn-ea"/>
              </a:rPr>
              <a:t>后续 benchmark 关注生命周期策略是否带来额外收益</a:t>
            </a:r>
            <a:r>
              <a:rPr lang="zh-CN" sz="1600">
                <a:solidFill>
                  <a:srgbClr val="003B66"/>
                </a:solidFill>
                <a:latin typeface="微软雅黑" panose="020B0503020204020204" charset="-122"/>
                <a:sym typeface="+mn-ea"/>
              </a:rPr>
              <a:t>。</a:t>
            </a:r>
            <a:endParaRPr lang="zh-CN" sz="1600" b="0">
              <a:solidFill>
                <a:srgbClr val="003B66"/>
              </a:solidFill>
              <a:latin typeface="微软雅黑" panose="020B0503020204020204" charset="-122"/>
            </a:endParaRPr>
          </a:p>
          <a:p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27432" rIns="45720" bIns="27432" anchor="ctr"/>
          <a:lstStyle/>
          <a:p>
            <a:pPr algn="l"/>
            <a:r>
              <a:rPr sz="2400" b="1">
                <a:solidFill>
                  <a:srgbClr val="003B66"/>
                </a:solidFill>
                <a:latin typeface="微软雅黑" panose="020B0503020204020204" charset="-122"/>
              </a:rPr>
              <a:t>按 L0-L3 渐进落地生命周期管理</a:t>
            </a:r>
            <a:endParaRPr sz="2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755" y="1733677"/>
          <a:ext cx="9921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3063240"/>
                <a:gridCol w="283464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阶段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核心目标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关键指标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</a:rPr>
                        <a:t>验证方式</a:t>
                      </a:r>
                      <a:endParaRPr sz="1400" b="1">
                        <a:solidFill>
                          <a:schemeClr val="bg1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0832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L0 观测层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side table + JSONL events，不改变 vLLM 行为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prefix hit、状态转移、KV usage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prebenchmark_validation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L1 冷却层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ref_cnt 归零后区分 CoolingHot / CoolingWarm / Candidate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shared anchor survival、tail eviction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原始策略 vs 冷却分层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L2/L3 策略层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family-aware 二阶段驱逐，并逐步接入 scheduler hint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regretful eviction、TTFT、TPOT、throughput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B66"/>
                          </a:solidFill>
                          <a:latin typeface="微软雅黑" panose="020B0503020204020204" charset="-122"/>
                        </a:rPr>
                        <a:t>benchmarks A/B 矩阵</a:t>
                      </a:r>
                      <a:endParaRPr sz="1200" b="0">
                        <a:solidFill>
                          <a:srgbClr val="003B66"/>
                        </a:solidFill>
                        <a:latin typeface="微软雅黑" panose="020B0503020204020204" charset="-122"/>
                      </a:endParaRPr>
                    </a:p>
                  </a:txBody>
                  <a:tcPr marL="27432" marR="2743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6620" y="4636770"/>
            <a:ext cx="438912" cy="347472"/>
          </a:xfrm>
          <a:prstGeom prst="roundRect">
            <a:avLst/>
          </a:prstGeom>
          <a:solidFill>
            <a:srgbClr val="AA2734"/>
          </a:solidFill>
          <a:ln>
            <a:solidFill>
              <a:srgbClr val="AA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03B66"/>
                </a:solidFill>
                <a:latin typeface="微软雅黑" panose="020B0503020204020204" charset="-122"/>
              </a:rPr>
              <a:t>L0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99540" y="454533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1">
                <a:solidFill>
                  <a:srgbClr val="003B66"/>
                </a:solidFill>
                <a:latin typeface="微软雅黑" panose="020B0503020204020204" charset="-122"/>
              </a:rPr>
              <a:t>观测层：事件日志 + side table</a:t>
            </a:r>
            <a:endParaRPr sz="9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3182620" y="4801362"/>
            <a:ext cx="20116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11220" y="4636770"/>
            <a:ext cx="438912" cy="347472"/>
          </a:xfrm>
          <a:prstGeom prst="roundRect">
            <a:avLst/>
          </a:prstGeom>
          <a:solidFill>
            <a:srgbClr val="AA2734"/>
          </a:solidFill>
          <a:ln>
            <a:solidFill>
              <a:srgbClr val="AA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03B66"/>
                </a:solidFill>
                <a:latin typeface="微软雅黑" panose="020B0503020204020204" charset="-122"/>
              </a:rPr>
              <a:t>L1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14139" y="454533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1">
                <a:solidFill>
                  <a:srgbClr val="003B66"/>
                </a:solidFill>
                <a:latin typeface="微软雅黑" panose="020B0503020204020204" charset="-122"/>
              </a:rPr>
              <a:t>冷却层：Hot/Warm/Candidate</a:t>
            </a:r>
            <a:endParaRPr sz="9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697220" y="4801362"/>
            <a:ext cx="20116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25820" y="4636770"/>
            <a:ext cx="438912" cy="347472"/>
          </a:xfrm>
          <a:prstGeom prst="roundRect">
            <a:avLst/>
          </a:prstGeom>
          <a:solidFill>
            <a:srgbClr val="1E6096"/>
          </a:solidFill>
          <a:ln>
            <a:solidFill>
              <a:srgbClr val="1E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03B66"/>
                </a:solidFill>
                <a:latin typeface="微软雅黑" panose="020B0503020204020204" charset="-122"/>
              </a:rPr>
              <a:t>L2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28740" y="454533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1">
                <a:solidFill>
                  <a:srgbClr val="003B66"/>
                </a:solidFill>
                <a:latin typeface="微软雅黑" panose="020B0503020204020204" charset="-122"/>
              </a:rPr>
              <a:t>策略层：family-aware 驱逐</a:t>
            </a:r>
            <a:endParaRPr sz="9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211820" y="4801362"/>
            <a:ext cx="201168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40420" y="4636770"/>
            <a:ext cx="438912" cy="347472"/>
          </a:xfrm>
          <a:prstGeom prst="roundRect">
            <a:avLst/>
          </a:prstGeom>
          <a:solidFill>
            <a:srgbClr val="1E6096"/>
          </a:solidFill>
          <a:ln>
            <a:solidFill>
              <a:srgbClr val="1E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1">
                <a:solidFill>
                  <a:srgbClr val="003B66"/>
                </a:solidFill>
                <a:latin typeface="微软雅黑" panose="020B0503020204020204" charset="-122"/>
              </a:rPr>
              <a:t>L3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43340" y="454533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0" b="1">
                <a:solidFill>
                  <a:srgbClr val="003B66"/>
                </a:solidFill>
                <a:latin typeface="微软雅黑" panose="020B0503020204020204" charset="-122"/>
              </a:rPr>
              <a:t>调度层：scheduler hint</a:t>
            </a:r>
            <a:endParaRPr sz="920" b="0">
              <a:solidFill>
                <a:srgbClr val="1828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83258"/>
                </a:solidFill>
                <a:latin typeface="微软雅黑" panose="020B0503020204020204" charset="-122"/>
              </a:rPr>
              <a:t>谢谢！</a:t>
            </a:r>
            <a:endParaRPr sz="3400" b="1">
              <a:solidFill>
                <a:srgbClr val="083258"/>
              </a:solidFill>
              <a:latin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400" b="0">
                <a:solidFill>
                  <a:srgbClr val="5E7088"/>
                </a:solidFill>
                <a:latin typeface="微软雅黑" panose="020B0503020204020204" charset="-122"/>
              </a:rPr>
              <a:t>KVFabric：从可运行 vLLM 基线，到可解释的 KVCache 生命周期原型</a:t>
            </a:r>
            <a:endParaRPr sz="1400" b="0">
              <a:solidFill>
                <a:srgbClr val="5E70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teach05">
      <a:dk1>
        <a:srgbClr val="323F4F"/>
      </a:dk1>
      <a:lt1>
        <a:sysClr val="window" lastClr="FFFFFF"/>
      </a:lt1>
      <a:dk2>
        <a:srgbClr val="44546A"/>
      </a:dk2>
      <a:lt2>
        <a:srgbClr val="E7E6E6"/>
      </a:lt2>
      <a:accent1>
        <a:srgbClr val="123B64"/>
      </a:accent1>
      <a:accent2>
        <a:srgbClr val="3798EC"/>
      </a:accent2>
      <a:accent3>
        <a:srgbClr val="FFCB0E"/>
      </a:accent3>
      <a:accent4>
        <a:srgbClr val="D7244E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5546</Words>
  <Application>WPS 演示</Application>
  <PresentationFormat>宽屏</PresentationFormat>
  <Paragraphs>375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Candara</vt:lpstr>
      <vt:lpstr>Arial Unicode MS</vt:lpstr>
      <vt:lpstr>等线</vt:lpstr>
      <vt:lpstr>Office 主题​​</vt:lpstr>
      <vt:lpstr>KVFabric：面向 LLM 推理服务的
KV Cache 生命周期管理</vt:lpstr>
      <vt:lpstr>PowerPoint 演示文稿</vt:lpstr>
      <vt:lpstr>WHAT：项目对象与目标</vt:lpstr>
      <vt:lpstr>背景原理：LLM 推理中的 KVCache</vt:lpstr>
      <vt:lpstr>项目定位：把 KV block 当作生命周期对象</vt:lpstr>
      <vt:lpstr>WHY：研究意义与问题挑战</vt:lpstr>
      <vt:lpstr>为什么 KVCache 会成为瓶颈</vt:lpstr>
      <vt:lpstr>现有机制的基础与不足</vt:lpstr>
      <vt:lpstr>核心挑战：分配、复用、驱逐强耦合</vt:lpstr>
      <vt:lpstr>HOW：全生命周期管理设计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NOW：当前进展与落地路径</vt:lpstr>
      <vt:lpstr>当前进展</vt:lpstr>
      <vt:lpstr>测试验证工具链</vt:lpstr>
      <vt:lpstr>按 L0-L3 渐进落地生命周期管理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KVFabric 中期汇报</dc:title>
  <dc:creator>KVFabric Team</dc:creator>
  <dc:description>Revised for balanced report rhythm: background, principles, algorithm design, progress, fewer source-code-heavy pages.</dc:description>
  <dc:subject>面向 LLM 推理服务的 KV Cache 生命周期管理</dc:subject>
  <cp:lastModifiedBy>梦之秋云</cp:lastModifiedBy>
  <cp:revision>58</cp:revision>
  <dcterms:created xsi:type="dcterms:W3CDTF">2019-09-10T12:31:00Z</dcterms:created>
  <dcterms:modified xsi:type="dcterms:W3CDTF">2026-04-28T16:44:56Z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BBEF4AECC4B14711814669490DF19338_12</vt:lpwstr>
  </property>
</Properties>
</file>