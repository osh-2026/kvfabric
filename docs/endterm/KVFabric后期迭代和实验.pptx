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6.svg" ContentType="image/svg+xml"/>
  <Override PartName="/ppt/media/image62.svg" ContentType="image/svg+xml"/>
  <Override PartName="/ppt/media/image64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3" r:id="rId3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88" autoAdjust="0"/>
    <p:restoredTop sz="94534" autoAdjust="0"/>
  </p:normalViewPr>
  <p:slideViewPr>
    <p:cSldViewPr snapToGrid="0">
      <p:cViewPr>
        <p:scale>
          <a:sx n="100" d="100"/>
          <a:sy n="100" d="100"/>
        </p:scale>
        <p:origin x="2068" y="1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3AC749-4FB1-4504-8A01-4799D4DFEF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61872" y="4800600"/>
            <a:ext cx="9418320" cy="5228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200" baseline="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8" name="组合 7"/>
          <p:cNvGrpSpPr/>
          <p:nvPr userDrawn="1"/>
        </p:nvGrpSpPr>
        <p:grpSpPr>
          <a:xfrm>
            <a:off x="1344485" y="5505422"/>
            <a:ext cx="1764691" cy="297909"/>
            <a:chOff x="8729725" y="4570716"/>
            <a:chExt cx="2830513" cy="477838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9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41"/>
            <p:cNvSpPr/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42"/>
            <p:cNvSpPr/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43"/>
            <p:cNvSpPr/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61872" y="758952"/>
            <a:ext cx="9418320" cy="115620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目录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61872" y="2042160"/>
            <a:ext cx="9418320" cy="4450080"/>
          </a:xfrm>
          <a:prstGeom prst="rect">
            <a:avLst/>
          </a:prstGeom>
        </p:spPr>
        <p:txBody>
          <a:bodyPr anchor="t">
            <a:normAutofit/>
          </a:bodyPr>
          <a:lstStyle>
            <a:lvl1pPr marL="625475" indent="-447675">
              <a:buFont typeface="Wingdings" panose="05000000000000000000" pitchFamily="2" charset="2"/>
              <a:buChar char="n"/>
              <a:defRPr sz="3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86" y="948906"/>
            <a:ext cx="9746088" cy="742416"/>
          </a:xfrm>
          <a:prstGeom prst="rect">
            <a:avLst/>
          </a:prstGeom>
        </p:spPr>
        <p:txBody>
          <a:bodyPr anchor="b"/>
          <a:lstStyle>
            <a:lvl1pPr>
              <a:defRPr lang="en-US" dirty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22386" y="1828800"/>
            <a:ext cx="9746088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>
              <a:lnSpc>
                <a:spcPct val="120000"/>
              </a:lnSpc>
              <a:buFont typeface="微软雅黑" panose="020B0503020204020204" pitchFamily="34" charset="-122"/>
              <a:buChar char="▪"/>
              <a:defRPr sz="3600"/>
            </a:lvl1pPr>
            <a:lvl2pPr marL="541655" indent="-266700">
              <a:lnSpc>
                <a:spcPct val="120000"/>
              </a:lnSpc>
              <a:buFont typeface="微软雅黑" panose="020B0503020204020204" pitchFamily="34" charset="-122"/>
              <a:buChar char="▫"/>
              <a:defRPr sz="3200"/>
            </a:lvl2pPr>
            <a:lvl3pPr marL="805180" indent="-257175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3pPr>
            <a:lvl4pPr marL="1075055" indent="-252730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4pPr>
            <a:lvl5pPr marL="1346200" indent="-249555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503148"/>
            <a:ext cx="207034" cy="11881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822325" y="503149"/>
            <a:ext cx="9745413" cy="40481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86" y="948906"/>
            <a:ext cx="9746088" cy="742416"/>
          </a:xfrm>
          <a:prstGeom prst="rect">
            <a:avLst/>
          </a:prstGeom>
        </p:spPr>
        <p:txBody>
          <a:bodyPr anchor="b"/>
          <a:lstStyle>
            <a:lvl1pPr>
              <a:defRPr lang="en-US" dirty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22386" y="1828800"/>
            <a:ext cx="9746088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>
              <a:lnSpc>
                <a:spcPct val="120000"/>
              </a:lnSpc>
              <a:buFont typeface="微软雅黑" panose="020B0503020204020204" pitchFamily="34" charset="-122"/>
              <a:buChar char="▪"/>
              <a:defRPr sz="3600"/>
            </a:lvl1pPr>
            <a:lvl2pPr marL="541655" indent="-266700">
              <a:lnSpc>
                <a:spcPct val="120000"/>
              </a:lnSpc>
              <a:buFont typeface="微软雅黑" panose="020B0503020204020204" pitchFamily="34" charset="-122"/>
              <a:buChar char="▫"/>
              <a:defRPr sz="3200"/>
            </a:lvl2pPr>
            <a:lvl3pPr marL="805180" indent="-257175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3pPr>
            <a:lvl4pPr marL="1075055" indent="-252730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4pPr>
            <a:lvl5pPr marL="1346200" indent="-249555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503148"/>
            <a:ext cx="207034" cy="11881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6023292"/>
            <a:ext cx="12192000" cy="834708"/>
          </a:xfrm>
          <a:prstGeom prst="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171" y="6023295"/>
            <a:ext cx="9982200" cy="83470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602329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2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3.xml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6" Type="http://schemas.openxmlformats.org/officeDocument/2006/relationships/notesSlide" Target="../notesSlides/notesSlide6.xml"/><Relationship Id="rId25" Type="http://schemas.openxmlformats.org/officeDocument/2006/relationships/slideLayout" Target="../slideLayouts/slideLayout3.xml"/><Relationship Id="rId24" Type="http://schemas.openxmlformats.org/officeDocument/2006/relationships/image" Target="../media/image6.svg"/><Relationship Id="rId23" Type="http://schemas.openxmlformats.org/officeDocument/2006/relationships/image" Target="../media/image5.png"/><Relationship Id="rId22" Type="http://schemas.openxmlformats.org/officeDocument/2006/relationships/image" Target="../media/image14.svg"/><Relationship Id="rId21" Type="http://schemas.openxmlformats.org/officeDocument/2006/relationships/image" Target="../media/image13.png"/><Relationship Id="rId20" Type="http://schemas.openxmlformats.org/officeDocument/2006/relationships/image" Target="../media/image36.svg"/><Relationship Id="rId2" Type="http://schemas.openxmlformats.org/officeDocument/2006/relationships/image" Target="../media/image22.svg"/><Relationship Id="rId19" Type="http://schemas.openxmlformats.org/officeDocument/2006/relationships/image" Target="../media/image35.png"/><Relationship Id="rId18" Type="http://schemas.openxmlformats.org/officeDocument/2006/relationships/image" Target="../media/image34.svg"/><Relationship Id="rId17" Type="http://schemas.openxmlformats.org/officeDocument/2006/relationships/image" Target="../media/image33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32.svg"/><Relationship Id="rId13" Type="http://schemas.openxmlformats.org/officeDocument/2006/relationships/image" Target="../media/image31.png"/><Relationship Id="rId12" Type="http://schemas.openxmlformats.org/officeDocument/2006/relationships/image" Target="../media/image30.svg"/><Relationship Id="rId11" Type="http://schemas.openxmlformats.org/officeDocument/2006/relationships/image" Target="../media/image29.png"/><Relationship Id="rId10" Type="http://schemas.openxmlformats.org/officeDocument/2006/relationships/image" Target="../media/image12.svg"/><Relationship Id="rId1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image" Target="../media/image40.svg"/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3.xml"/><Relationship Id="rId12" Type="http://schemas.openxmlformats.org/officeDocument/2006/relationships/image" Target="../media/image24.svg"/><Relationship Id="rId11" Type="http://schemas.openxmlformats.org/officeDocument/2006/relationships/image" Target="../media/image23.png"/><Relationship Id="rId10" Type="http://schemas.openxmlformats.org/officeDocument/2006/relationships/image" Target="../media/image46.svg"/><Relationship Id="rId1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image" Target="../media/image12.svg"/><Relationship Id="rId6" Type="http://schemas.openxmlformats.org/officeDocument/2006/relationships/image" Target="../media/image11.png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6" Type="http://schemas.openxmlformats.org/officeDocument/2006/relationships/notesSlide" Target="../notesSlides/notesSlide9.xml"/><Relationship Id="rId25" Type="http://schemas.openxmlformats.org/officeDocument/2006/relationships/slideLayout" Target="../slideLayouts/slideLayout3.xml"/><Relationship Id="rId24" Type="http://schemas.openxmlformats.org/officeDocument/2006/relationships/tags" Target="../tags/tag37.xml"/><Relationship Id="rId23" Type="http://schemas.openxmlformats.org/officeDocument/2006/relationships/tags" Target="../tags/tag36.xml"/><Relationship Id="rId22" Type="http://schemas.openxmlformats.org/officeDocument/2006/relationships/image" Target="../media/image48.svg"/><Relationship Id="rId21" Type="http://schemas.openxmlformats.org/officeDocument/2006/relationships/image" Target="../media/image47.png"/><Relationship Id="rId20" Type="http://schemas.openxmlformats.org/officeDocument/2006/relationships/tags" Target="../tags/tag35.xml"/><Relationship Id="rId2" Type="http://schemas.openxmlformats.org/officeDocument/2006/relationships/tags" Target="../tags/tag23.xml"/><Relationship Id="rId19" Type="http://schemas.openxmlformats.org/officeDocument/2006/relationships/tags" Target="../tags/tag34.xml"/><Relationship Id="rId18" Type="http://schemas.openxmlformats.org/officeDocument/2006/relationships/tags" Target="../tags/tag33.xml"/><Relationship Id="rId17" Type="http://schemas.openxmlformats.org/officeDocument/2006/relationships/image" Target="../media/image16.svg"/><Relationship Id="rId16" Type="http://schemas.openxmlformats.org/officeDocument/2006/relationships/image" Target="../media/image15.png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tags" Target="../tags/tag29.xml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0.svg"/><Relationship Id="rId1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0" Type="http://schemas.openxmlformats.org/officeDocument/2006/relationships/notesSlide" Target="../notesSlides/notesSlide11.xml"/><Relationship Id="rId2" Type="http://schemas.openxmlformats.org/officeDocument/2006/relationships/image" Target="../media/image52.svg"/><Relationship Id="rId19" Type="http://schemas.openxmlformats.org/officeDocument/2006/relationships/slideLayout" Target="../slideLayouts/slideLayout3.xml"/><Relationship Id="rId18" Type="http://schemas.openxmlformats.org/officeDocument/2006/relationships/tags" Target="../tags/tag47.xml"/><Relationship Id="rId17" Type="http://schemas.openxmlformats.org/officeDocument/2006/relationships/tags" Target="../tags/tag46.xml"/><Relationship Id="rId16" Type="http://schemas.openxmlformats.org/officeDocument/2006/relationships/image" Target="../media/image46.svg"/><Relationship Id="rId15" Type="http://schemas.openxmlformats.org/officeDocument/2006/relationships/image" Target="../media/image45.png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image" Target="../media/image30.svg"/><Relationship Id="rId10" Type="http://schemas.openxmlformats.org/officeDocument/2006/relationships/image" Target="../media/image29.png"/><Relationship Id="rId1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4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png"/><Relationship Id="rId8" Type="http://schemas.openxmlformats.org/officeDocument/2006/relationships/image" Target="../media/image20.svg"/><Relationship Id="rId7" Type="http://schemas.openxmlformats.org/officeDocument/2006/relationships/image" Target="../media/image19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12.svg"/><Relationship Id="rId19" Type="http://schemas.openxmlformats.org/officeDocument/2006/relationships/notesSlide" Target="../notesSlides/notesSlide14.xml"/><Relationship Id="rId18" Type="http://schemas.openxmlformats.org/officeDocument/2006/relationships/slideLayout" Target="../slideLayouts/slideLayout3.xml"/><Relationship Id="rId17" Type="http://schemas.openxmlformats.org/officeDocument/2006/relationships/image" Target="../media/image57.png"/><Relationship Id="rId16" Type="http://schemas.openxmlformats.org/officeDocument/2006/relationships/image" Target="../media/image48.svg"/><Relationship Id="rId15" Type="http://schemas.openxmlformats.org/officeDocument/2006/relationships/image" Target="../media/image47.png"/><Relationship Id="rId14" Type="http://schemas.openxmlformats.org/officeDocument/2006/relationships/image" Target="../media/image34.svg"/><Relationship Id="rId13" Type="http://schemas.openxmlformats.org/officeDocument/2006/relationships/image" Target="../media/image33.png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image" Target="../media/image56.sv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34.svg"/><Relationship Id="rId7" Type="http://schemas.openxmlformats.org/officeDocument/2006/relationships/image" Target="../media/image3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30.svg"/><Relationship Id="rId3" Type="http://schemas.openxmlformats.org/officeDocument/2006/relationships/image" Target="../media/image29.png"/><Relationship Id="rId2" Type="http://schemas.openxmlformats.org/officeDocument/2006/relationships/image" Target="../media/image48.svg"/><Relationship Id="rId12" Type="http://schemas.openxmlformats.org/officeDocument/2006/relationships/notesSlide" Target="../notesSlides/notesSlide17.xml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60.png"/><Relationship Id="rId1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4.svg"/><Relationship Id="rId3" Type="http://schemas.openxmlformats.org/officeDocument/2006/relationships/image" Target="../media/image63.png"/><Relationship Id="rId2" Type="http://schemas.openxmlformats.org/officeDocument/2006/relationships/image" Target="../media/image62.svg"/><Relationship Id="rId1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svg"/><Relationship Id="rId8" Type="http://schemas.openxmlformats.org/officeDocument/2006/relationships/image" Target="../media/image3.png"/><Relationship Id="rId7" Type="http://schemas.openxmlformats.org/officeDocument/2006/relationships/image" Target="../media/image64.svg"/><Relationship Id="rId6" Type="http://schemas.openxmlformats.org/officeDocument/2006/relationships/image" Target="../media/image63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1" Type="http://schemas.openxmlformats.org/officeDocument/2006/relationships/notesSlide" Target="../notesSlides/notesSlide20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5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5" Type="http://schemas.openxmlformats.org/officeDocument/2006/relationships/notesSlide" Target="../notesSlides/notesSlide24.x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59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0" Type="http://schemas.openxmlformats.org/officeDocument/2006/relationships/notesSlide" Target="../notesSlides/notesSlide25.xml"/><Relationship Id="rId2" Type="http://schemas.openxmlformats.org/officeDocument/2006/relationships/image" Target="../media/image18.svg"/><Relationship Id="rId19" Type="http://schemas.openxmlformats.org/officeDocument/2006/relationships/slideLayout" Target="../slideLayouts/slideLayout3.xml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image" Target="../media/image46.svg"/><Relationship Id="rId15" Type="http://schemas.openxmlformats.org/officeDocument/2006/relationships/image" Target="../media/image45.png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image" Target="../media/image30.svg"/><Relationship Id="rId10" Type="http://schemas.openxmlformats.org/officeDocument/2006/relationships/image" Target="../media/image29.png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迭代与实验</a:t>
            </a:r>
            <a:r>
              <a:rPr lang="zh-CN" altLang="en-US" dirty="0"/>
              <a:t>验证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6892" y="564642"/>
            <a:ext cx="9418320" cy="1156208"/>
          </a:xfrm>
        </p:spPr>
        <p:txBody>
          <a:bodyPr>
            <a:normAutofit/>
          </a:bodyPr>
          <a:lstStyle/>
          <a:p>
            <a:r>
              <a:rPr lang="zh-CN" altLang="en-US" sz="5400" b="1">
                <a:solidFill>
                  <a:srgbClr val="333333"/>
                </a:solidFill>
                <a:latin typeface="微软雅黑" panose="020B0503020204020204" pitchFamily="34" charset="-122"/>
              </a:rPr>
              <a:t>目录</a:t>
            </a:r>
            <a:endParaRPr lang="zh-CN" altLang="en-US" sz="5400" b="1" dirty="0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73125" y="2117090"/>
            <a:ext cx="763905" cy="100520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2800" b="1">
                <a:solidFill>
                  <a:srgbClr val="0070E8"/>
                </a:solidFill>
                <a:latin typeface="微软雅黑" panose="020B0503020204020204" pitchFamily="34" charset="-122"/>
              </a:rPr>
              <a:t>01</a:t>
            </a:r>
            <a:endParaRPr lang="zh-CN" altLang="en-US" sz="280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776730" y="2222500"/>
            <a:ext cx="4572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大规模实验及其迭代改进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776730" y="2650490"/>
            <a:ext cx="71120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实验问题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-&gt;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根因定位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-&gt;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代码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架构改进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873125" y="3086100"/>
            <a:ext cx="763905" cy="104838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2800" b="1">
                <a:solidFill>
                  <a:srgbClr val="0070E8"/>
                </a:solidFill>
                <a:latin typeface="微软雅黑" panose="020B0503020204020204" pitchFamily="34" charset="-122"/>
              </a:rPr>
              <a:t>02</a:t>
            </a:r>
            <a:endParaRPr lang="en-US" altLang="zh-CN" sz="280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777365" y="3180080"/>
            <a:ext cx="4571365" cy="3689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调试工具与可视化工具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1776730" y="3602990"/>
            <a:ext cx="71120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JSONL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summary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heartbeat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replay/dashboard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873125" y="4050030"/>
            <a:ext cx="763905" cy="89916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2800" b="1">
                <a:solidFill>
                  <a:srgbClr val="0070E8"/>
                </a:solidFill>
                <a:latin typeface="微软雅黑" panose="020B0503020204020204" pitchFamily="34" charset="-122"/>
              </a:rPr>
              <a:t>03</a:t>
            </a:r>
            <a:endParaRPr lang="zh-CN" altLang="en-US" sz="280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1777365" y="4050030"/>
            <a:ext cx="4572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实验设计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1776730" y="4481830"/>
            <a:ext cx="71120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总思路、请求类型、主要实验、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12h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矩阵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873125" y="4949190"/>
            <a:ext cx="763905" cy="863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2800" b="1">
                <a:solidFill>
                  <a:srgbClr val="0070E8"/>
                </a:solidFill>
                <a:latin typeface="微软雅黑" panose="020B0503020204020204" pitchFamily="34" charset="-122"/>
              </a:rPr>
              <a:t>04</a:t>
            </a:r>
            <a:endParaRPr lang="zh-CN" altLang="en-US" sz="280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1777365" y="5008245"/>
            <a:ext cx="4572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12h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完整实验结果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1777365" y="5502275"/>
            <a:ext cx="71120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四个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stage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3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标题 3"/>
          <p:cNvSpPr/>
          <p:nvPr>
            <p:ph type="title"/>
          </p:nvPr>
        </p:nvSpPr>
        <p:spPr/>
        <p:txBody>
          <a:bodyPr/>
          <a:p>
            <a:br>
              <a:rPr lang="zh-CN" altLang="en-US"/>
            </a:br>
            <a:r>
              <a:rPr lang="zh-CN" altLang="en-US"/>
              <a:t>大规模实验及其</a:t>
            </a:r>
            <a:r>
              <a:rPr lang="zh-CN" altLang="en-US"/>
              <a:t>迭代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7285990" y="1526540"/>
            <a:ext cx="3354705" cy="410464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4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P1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远程长测缺乏完整闭环和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监控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39495" y="1526540"/>
            <a:ext cx="1168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D93030"/>
                </a:solidFill>
                <a:latin typeface="微软雅黑" panose="020B0503020204020204" pitchFamily="34" charset="-122"/>
              </a:rPr>
              <a:t>问题与根因</a:t>
            </a:r>
            <a:endParaRPr lang="zh-CN" altLang="en-US" b="1">
              <a:solidFill>
                <a:srgbClr val="D9303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090295" y="1854200"/>
            <a:ext cx="1066800" cy="0"/>
          </a:xfrm>
          <a:prstGeom prst="line">
            <a:avLst/>
          </a:prstGeom>
          <a:ln w="20320">
            <a:solidFill>
              <a:srgbClr val="D93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090295" y="2006600"/>
            <a:ext cx="4725670" cy="121031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本地 </a:t>
            </a:r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smoke test 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能验证机制，但无法支撑长周期稳定性和策略收益结论。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  <a:p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多个 </a:t>
            </a:r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policy 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的结果需要统一对齐，</a:t>
            </a:r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A/B 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对比才能可信。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  <a:p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远程长测时间长，需要实时监控来及时获取情况和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信息。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5800" y="3501390"/>
            <a:ext cx="1016000" cy="18224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闭环改造</a:t>
            </a:r>
            <a:endParaRPr lang="zh-CN" altLang="en-US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85800" y="3801110"/>
            <a:ext cx="914400" cy="0"/>
          </a:xfrm>
          <a:prstGeom prst="line">
            <a:avLst/>
          </a:prstGeom>
          <a:ln w="2032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形 9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4232910"/>
            <a:ext cx="304800" cy="3048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85800" y="4613910"/>
            <a:ext cx="1041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deploy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4200" y="4867910"/>
            <a:ext cx="1219200" cy="1841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同步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overlay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1320800" y="4366895"/>
            <a:ext cx="822960" cy="18415"/>
          </a:xfrm>
          <a:prstGeom prst="line">
            <a:avLst/>
          </a:prstGeom>
          <a:ln w="1397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形 14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0760" y="4232910"/>
            <a:ext cx="304800" cy="3048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143760" y="4652645"/>
            <a:ext cx="1041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runner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965960" y="4916805"/>
            <a:ext cx="1219200" cy="1841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启动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vLLM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2702560" y="4385310"/>
            <a:ext cx="746760" cy="3175"/>
          </a:xfrm>
          <a:prstGeom prst="line">
            <a:avLst/>
          </a:prstGeom>
          <a:ln w="1397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形 19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76320" y="4232910"/>
            <a:ext cx="304800" cy="3048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3373120" y="4652645"/>
            <a:ext cx="1041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run root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271520" y="4916805"/>
            <a:ext cx="1219200" cy="1841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记录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env/metrics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V="1">
            <a:off x="4008120" y="4380865"/>
            <a:ext cx="786765" cy="4445"/>
          </a:xfrm>
          <a:prstGeom prst="line">
            <a:avLst/>
          </a:prstGeom>
          <a:ln w="1397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形 24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21885" y="4223385"/>
            <a:ext cx="304800" cy="30480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4921885" y="4643120"/>
            <a:ext cx="1041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sync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32985" y="4907280"/>
            <a:ext cx="1219200" cy="1841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同步结果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V="1">
            <a:off x="5353685" y="4371340"/>
            <a:ext cx="797560" cy="4445"/>
          </a:xfrm>
          <a:prstGeom prst="line">
            <a:avLst/>
          </a:prstGeom>
          <a:ln w="1397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形 29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27445" y="4223385"/>
            <a:ext cx="304800" cy="30480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5954395" y="4641215"/>
            <a:ext cx="1041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summary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958840" y="4907280"/>
            <a:ext cx="1219200" cy="1841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生成汇总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501890" y="1729740"/>
            <a:ext cx="10922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闭环落实</a:t>
            </a:r>
            <a:endParaRPr lang="zh-CN" altLang="en-US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7501890" y="2066925"/>
            <a:ext cx="990600" cy="0"/>
          </a:xfrm>
          <a:prstGeom prst="line">
            <a:avLst/>
          </a:prstGeom>
          <a:ln w="2032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形 36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01890" y="2371725"/>
            <a:ext cx="228600" cy="228600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7857490" y="2359025"/>
            <a:ext cx="2683510" cy="279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run_state / policy_state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857490" y="2638425"/>
            <a:ext cx="2603500" cy="60579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区分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completed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failed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partial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stalled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1" name="图形 40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01890" y="3298825"/>
            <a:ext cx="228600" cy="22860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7857490" y="3286125"/>
            <a:ext cx="1549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heartbeat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857490" y="3565525"/>
            <a:ext cx="2603500" cy="48069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运行中时间戳、阶段和进度可见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5" name="图形 44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01890" y="4213225"/>
            <a:ext cx="228600" cy="228600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7857490" y="4200525"/>
            <a:ext cx="2603500" cy="40513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acceptance summary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857490" y="4479925"/>
            <a:ext cx="2603500" cy="8191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多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policy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结果自动对齐成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Markdown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，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csv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86560" y="5427345"/>
            <a:ext cx="4540885" cy="1082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每个 </a:t>
            </a:r>
            <a:r>
              <a:rPr lang="en-US" altLang="zh-CN" sz="1400"/>
              <a:t>stage </a:t>
            </a:r>
            <a:r>
              <a:rPr lang="zh-CN" altLang="en-US" sz="1400"/>
              <a:t>生成独立 </a:t>
            </a:r>
            <a:r>
              <a:rPr lang="en-US" altLang="zh-CN" sz="1400" b="1"/>
              <a:t>run root</a:t>
            </a:r>
            <a:r>
              <a:rPr lang="en-US" altLang="zh-CN" sz="1400"/>
              <a:t>，</a:t>
            </a:r>
            <a:r>
              <a:rPr lang="zh-CN" altLang="en-US" sz="1400"/>
              <a:t>保存 </a:t>
            </a:r>
            <a:r>
              <a:rPr lang="en-US" altLang="zh-CN" sz="1400" b="1"/>
              <a:t>config snapshot</a:t>
            </a:r>
            <a:r>
              <a:rPr lang="en-US" altLang="zh-CN" sz="1400"/>
              <a:t>、</a:t>
            </a:r>
            <a:r>
              <a:rPr lang="en-US" altLang="zh-CN" sz="1400" b="1"/>
              <a:t>env snapshot</a:t>
            </a:r>
            <a:r>
              <a:rPr lang="en-US" altLang="zh-CN" sz="1400"/>
              <a:t>、</a:t>
            </a:r>
            <a:r>
              <a:rPr lang="en-US" altLang="zh-CN" sz="1400" b="1"/>
              <a:t>lifecycle JSONL</a:t>
            </a:r>
            <a:r>
              <a:rPr lang="en-US" altLang="zh-CN" sz="1400"/>
              <a:t>、</a:t>
            </a:r>
            <a:r>
              <a:rPr lang="en-US" altLang="zh-CN" sz="1400" b="1"/>
              <a:t>Prometheus / online metrics</a:t>
            </a:r>
            <a:r>
              <a:rPr lang="en-US" altLang="zh-CN" sz="1400"/>
              <a:t>、</a:t>
            </a:r>
            <a:r>
              <a:rPr lang="en-US" altLang="zh-CN" sz="1400" b="1"/>
              <a:t>run state</a:t>
            </a:r>
            <a:r>
              <a:rPr lang="en-US" altLang="zh-CN" sz="1400"/>
              <a:t>、</a:t>
            </a:r>
            <a:r>
              <a:rPr lang="en-US" altLang="zh-CN" sz="1400" b="1"/>
              <a:t>policy state </a:t>
            </a:r>
            <a:r>
              <a:rPr lang="zh-CN" altLang="en-US" sz="1400"/>
              <a:t>和 </a:t>
            </a:r>
            <a:r>
              <a:rPr lang="en-US" altLang="zh-CN" sz="1400" b="1"/>
              <a:t>benchmark summary</a:t>
            </a:r>
            <a:r>
              <a:rPr lang="en-US" altLang="zh-CN" sz="1400"/>
              <a:t>。</a:t>
            </a:r>
            <a:endParaRPr lang="en-US" altLang="zh-CN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5786120" y="1358900"/>
            <a:ext cx="5171440" cy="236474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96900" y="1358900"/>
            <a:ext cx="4836795" cy="236474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5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P2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 workload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不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够真实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合理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5660" y="1630045"/>
            <a:ext cx="3754755" cy="3238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D93030"/>
                </a:solidFill>
                <a:latin typeface="微软雅黑" panose="020B0503020204020204" pitchFamily="34" charset="-122"/>
              </a:rPr>
              <a:t>旧问题：</a:t>
            </a:r>
            <a:r>
              <a:rPr lang="en-US" altLang="zh-CN" sz="1400" b="1">
                <a:solidFill>
                  <a:srgbClr val="D93030"/>
                </a:solidFill>
                <a:latin typeface="微软雅黑" panose="020B0503020204020204" pitchFamily="34" charset="-122"/>
              </a:rPr>
              <a:t>closed-loop / </a:t>
            </a:r>
            <a:r>
              <a:rPr lang="zh-CN" altLang="en-US" sz="1400" b="1">
                <a:solidFill>
                  <a:srgbClr val="D93030"/>
                </a:solidFill>
                <a:latin typeface="微软雅黑" panose="020B0503020204020204" pitchFamily="34" charset="-122"/>
              </a:rPr>
              <a:t>人工 </a:t>
            </a:r>
            <a:r>
              <a:rPr lang="en-US" altLang="zh-CN" sz="1400" b="1">
                <a:solidFill>
                  <a:srgbClr val="D93030"/>
                </a:solidFill>
                <a:latin typeface="微软雅黑" panose="020B0503020204020204" pitchFamily="34" charset="-122"/>
              </a:rPr>
              <a:t>hot-cold</a:t>
            </a:r>
            <a:endParaRPr lang="zh-CN" altLang="en-US" sz="1400" b="1">
              <a:solidFill>
                <a:srgbClr val="D9303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835025" y="1936115"/>
            <a:ext cx="3047365" cy="13335"/>
          </a:xfrm>
          <a:prstGeom prst="line">
            <a:avLst/>
          </a:prstGeom>
          <a:ln w="20320">
            <a:solidFill>
              <a:srgbClr val="D93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形 7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2475" y="2086610"/>
            <a:ext cx="412115" cy="3962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325880" y="2086610"/>
            <a:ext cx="3997960" cy="150876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1.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人工 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pitchFamily="34" charset="-122"/>
              </a:rPr>
              <a:t>hot/cold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请求能制造 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pitchFamily="34" charset="-122"/>
              </a:rPr>
              <a:t>prefix reuse，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但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不像真实在线服务。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2.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多轮对话、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pitchFamily="34" charset="-122"/>
              </a:rPr>
              <a:t>tenant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隔离、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pitchFamily="34" charset="-122"/>
              </a:rPr>
              <a:t>RAG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文档、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pitchFamily="34" charset="-122"/>
              </a:rPr>
              <a:t>agent tool loop、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后台长输出等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真实结构无法表达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。</a:t>
            </a:r>
            <a:endParaRPr lang="zh-CN" altLang="en-US" sz="1400">
              <a:solidFill>
                <a:srgbClr val="333333"/>
              </a:solidFill>
              <a:latin typeface="微软雅黑" panose="020B0503020204020204" pitchFamily="34" charset="-122"/>
            </a:endParaRPr>
          </a:p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3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pitchFamily="34" charset="-122"/>
              </a:rPr>
              <a:t>.closed-loop loadgen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会让更快的 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pitchFamily="34" charset="-122"/>
              </a:rPr>
              <a:t>policy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更早进入后续请求池，造成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A/B workload drift。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74410" y="1635760"/>
            <a:ext cx="2993390" cy="23241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0070E8"/>
                </a:solidFill>
                <a:latin typeface="微软雅黑" panose="020B0503020204020204" pitchFamily="34" charset="-122"/>
              </a:rPr>
              <a:t>新路径：</a:t>
            </a:r>
            <a:r>
              <a:rPr lang="en-US" altLang="zh-CN" sz="1400" b="1">
                <a:solidFill>
                  <a:srgbClr val="0070E8"/>
                </a:solidFill>
                <a:latin typeface="微软雅黑" panose="020B0503020204020204" pitchFamily="34" charset="-122"/>
              </a:rPr>
              <a:t>open-loop realistic trace</a:t>
            </a:r>
            <a:endParaRPr lang="zh-CN" altLang="en-US" sz="140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6074410" y="1941195"/>
            <a:ext cx="2934335" cy="1270"/>
          </a:xfrm>
          <a:prstGeom prst="line">
            <a:avLst/>
          </a:prstGeom>
          <a:ln w="2032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形 18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0600" y="2209800"/>
            <a:ext cx="228600" cy="22796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431280" y="2197100"/>
            <a:ext cx="4472940" cy="27686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1.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拓展请求结构：</a:t>
            </a:r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tenant / family / session / turn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431280" y="2476500"/>
            <a:ext cx="4109720" cy="26606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follow-up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携带历史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messages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，形成真实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prefix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复用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3" name="图形 22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70600" y="2743200"/>
            <a:ext cx="228600" cy="22796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431280" y="2730500"/>
            <a:ext cx="4236720" cy="52451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2.trace 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中每条请求带 </a:t>
            </a:r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scheduled_at_seconds，loadgen 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按时间线 </a:t>
            </a:r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open-loop replay</a:t>
            </a:r>
            <a:endParaRPr lang="en-US" altLang="zh-CN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431280" y="3180715"/>
            <a:ext cx="4472940" cy="43307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到点发送请求，记录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send delay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和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e2e latency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，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P50,P95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等。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1016000" y="4307840"/>
          <a:ext cx="9017001" cy="2032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0730"/>
                <a:gridCol w="3046284"/>
                <a:gridCol w="3289987"/>
              </a:tblGrid>
              <a:tr h="338667"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Profile</a:t>
                      </a:r>
                      <a:endParaRPr lang="en-US" altLang="zh-CN" sz="12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模拟场景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关键价值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338667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enterprise_mixed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企业多租户混合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普通服务收益与稳定性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38667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daily_dedicated_reuse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稳定用户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项目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文档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自然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prefix reuse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38667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sticky_burst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session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粘性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 burst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调度公平性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38667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foreground_latency_background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前台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后台混部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foreground-priority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38667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low_reuse_low_frequency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低频低复用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边界与少介入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016000" y="38874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不同请求</a:t>
            </a:r>
            <a:r>
              <a:rPr lang="zh-CN" altLang="en-US"/>
              <a:t>分类：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6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P3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指标解释能力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有限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" name="图形 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664460"/>
            <a:ext cx="228600" cy="2286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17600" y="26517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e2e latency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7600" y="2931160"/>
            <a:ext cx="1803400" cy="3124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send delay + service latency</a:t>
            </a:r>
            <a:endParaRPr lang="en-US" altLang="zh-CN" sz="1020">
              <a:solidFill>
                <a:srgbClr val="5D6674"/>
              </a:solidFill>
              <a:latin typeface="微软雅黑" panose="020B0503020204020204" pitchFamily="34" charset="-122"/>
            </a:endParaRPr>
          </a:p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P50,P95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等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指标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" name="图形 8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8500" y="2664460"/>
            <a:ext cx="228600" cy="2286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594100" y="26517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SLO goodput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94100" y="293116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SLO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内完成的有效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token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3" name="图形 12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0" y="2664460"/>
            <a:ext cx="228600" cy="2286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070600" y="26517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class metrics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70600" y="2931160"/>
            <a:ext cx="18034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前台、后台、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cold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decode-heavy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分开看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7" name="图形 16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91500" y="2664460"/>
            <a:ext cx="228600" cy="22860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8547100" y="26517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segment metrics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7100" y="2931160"/>
            <a:ext cx="18034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warmup / main / revisit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分阶段解释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1" name="图形 20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" y="3883660"/>
            <a:ext cx="228600" cy="2286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117600" y="38709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lifecycle summary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17600" y="4150360"/>
            <a:ext cx="18034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hit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evict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rebuilt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admission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串联证据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5" name="图形 24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38500" y="3883660"/>
            <a:ext cx="228600" cy="22860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3594100" y="38709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admission reasons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594100" y="4150360"/>
            <a:ext cx="18034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哪些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class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被限制，节省多少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block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9" name="图形 28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15000" y="3883660"/>
            <a:ext cx="228600" cy="22860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6070600" y="38709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scheduler counters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070600" y="4150360"/>
            <a:ext cx="18034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promotion/defer/skip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是否真实生效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3" name="图形 32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91500" y="3883660"/>
            <a:ext cx="228600" cy="228600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8547100" y="38709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acceptance summary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547100" y="415036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多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policy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自动对齐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7" name="图形 36"/>
          <p:cNvPicPr/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2000" y="5102860"/>
            <a:ext cx="228600" cy="228600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1117600" y="50901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SLO probes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117600" y="536956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一次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run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复盘多个阈值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1" name="图形 40"/>
          <p:cNvPicPr/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238500" y="5102860"/>
            <a:ext cx="228600" cy="22860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3594100" y="50901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hint coverage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594100" y="5369560"/>
            <a:ext cx="1803400" cy="4708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确认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class/family/session/SLO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是否穿透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5" name="图形 44"/>
          <p:cNvPicPr/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715000" y="5102860"/>
            <a:ext cx="228600" cy="228600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6070600" y="50901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heartbeat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070600" y="536956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判断长测是否卡住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9" name="图形 48"/>
          <p:cNvPicPr/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191500" y="5102860"/>
            <a:ext cx="228600" cy="228600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8547100" y="50901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raw samples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547100" y="536956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保留请求级审计证据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8340" y="1266190"/>
            <a:ext cx="5144135" cy="1294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加入新指标并跟踪记录：</a:t>
            </a:r>
            <a:r>
              <a:rPr lang="en-US" altLang="zh-CN" b="1"/>
              <a:t>SLO goodput</a:t>
            </a:r>
            <a:r>
              <a:rPr lang="zh-CN" altLang="en-US"/>
              <a:t>，</a:t>
            </a:r>
            <a:r>
              <a:rPr lang="en-US" altLang="zh-CN" b="1"/>
              <a:t>P50</a:t>
            </a:r>
            <a:r>
              <a:rPr lang="en-US" altLang="zh-CN"/>
              <a:t>,</a:t>
            </a:r>
            <a:r>
              <a:rPr lang="en-US" altLang="zh-CN" b="1"/>
              <a:t>P95</a:t>
            </a:r>
            <a:r>
              <a:rPr lang="zh-CN" altLang="en-US"/>
              <a:t>等，同时对</a:t>
            </a:r>
            <a:r>
              <a:rPr lang="zh-CN" altLang="en-US" b="1"/>
              <a:t>不同类型</a:t>
            </a:r>
            <a:r>
              <a:rPr lang="zh-CN" altLang="en-US"/>
              <a:t>的请求分别跟踪处理各种</a:t>
            </a:r>
            <a:r>
              <a:rPr lang="zh-CN" altLang="en-US"/>
              <a:t>指标。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5969000" y="1435100"/>
            <a:ext cx="4445000" cy="317500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87400" y="1435100"/>
            <a:ext cx="4445000" cy="317500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7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P4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保留的热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cache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没有被很好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利用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17600" y="1663700"/>
            <a:ext cx="812800" cy="16129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D93030"/>
                </a:solidFill>
                <a:latin typeface="微软雅黑" panose="020B0503020204020204" pitchFamily="34" charset="-122"/>
              </a:rPr>
              <a:t>问题链</a:t>
            </a:r>
            <a:endParaRPr lang="zh-CN" altLang="en-US" sz="1600" b="1">
              <a:solidFill>
                <a:srgbClr val="D9303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117600" y="1917700"/>
            <a:ext cx="711200" cy="0"/>
          </a:xfrm>
          <a:prstGeom prst="line">
            <a:avLst/>
          </a:prstGeom>
          <a:ln w="20320">
            <a:solidFill>
              <a:srgbClr val="D93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形 7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7600" y="2235200"/>
            <a:ext cx="228600" cy="2286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473200" y="2222500"/>
            <a:ext cx="3263900" cy="2457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333333"/>
                </a:solidFill>
                <a:latin typeface="微软雅黑" panose="020B0503020204020204" pitchFamily="34" charset="-122"/>
              </a:rPr>
              <a:t>1.</a:t>
            </a:r>
            <a:r>
              <a:rPr lang="zh-CN" altLang="en-US" sz="1600" b="1">
                <a:solidFill>
                  <a:srgbClr val="333333"/>
                </a:solidFill>
                <a:latin typeface="微软雅黑" panose="020B0503020204020204" pitchFamily="34" charset="-122"/>
              </a:rPr>
              <a:t>热 </a:t>
            </a:r>
            <a:r>
              <a:rPr lang="en-US" altLang="zh-CN" sz="1600" b="1">
                <a:solidFill>
                  <a:srgbClr val="333333"/>
                </a:solidFill>
                <a:latin typeface="微软雅黑" panose="020B0503020204020204" pitchFamily="34" charset="-122"/>
              </a:rPr>
              <a:t>block </a:t>
            </a:r>
            <a:r>
              <a:rPr lang="zh-CN" altLang="en-US" sz="1600" b="1">
                <a:solidFill>
                  <a:srgbClr val="333333"/>
                </a:solidFill>
                <a:latin typeface="微软雅黑" panose="020B0503020204020204" pitchFamily="34" charset="-122"/>
              </a:rPr>
              <a:t>还在 </a:t>
            </a:r>
            <a:r>
              <a:rPr lang="en-US" altLang="zh-CN" sz="1600" b="1">
                <a:solidFill>
                  <a:srgbClr val="333333"/>
                </a:solidFill>
                <a:latin typeface="微软雅黑" panose="020B0503020204020204" pitchFamily="34" charset="-122"/>
              </a:rPr>
              <a:t>cache </a:t>
            </a:r>
            <a:r>
              <a:rPr lang="zh-CN" altLang="en-US" sz="1600" b="1">
                <a:solidFill>
                  <a:srgbClr val="333333"/>
                </a:solidFill>
                <a:latin typeface="微软雅黑" panose="020B0503020204020204" pitchFamily="34" charset="-122"/>
              </a:rPr>
              <a:t>里</a:t>
            </a:r>
            <a:endParaRPr lang="zh-CN" altLang="en-US" sz="16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73200" y="2501900"/>
            <a:ext cx="32639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shared-aware / family-protect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降低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rebuilt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，但用户请求不一定立刻受益。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2" name="图形 11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600" y="3225800"/>
            <a:ext cx="228600" cy="2286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473200" y="3213100"/>
            <a:ext cx="3263900" cy="2457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333333"/>
                </a:solidFill>
                <a:latin typeface="微软雅黑" panose="020B0503020204020204" pitchFamily="34" charset="-122"/>
              </a:rPr>
              <a:t>2.waiting queue </a:t>
            </a:r>
            <a:r>
              <a:rPr lang="zh-CN" altLang="en-US" sz="1600" b="1">
                <a:solidFill>
                  <a:srgbClr val="333333"/>
                </a:solidFill>
                <a:latin typeface="微软雅黑" panose="020B0503020204020204" pitchFamily="34" charset="-122"/>
              </a:rPr>
              <a:t>仍按旧顺序推进</a:t>
            </a:r>
            <a:endParaRPr lang="zh-CN" altLang="en-US" sz="16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73200" y="3492500"/>
            <a:ext cx="32639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队首大量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cold miss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先跑，后面的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hot hit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没有被及时使用。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86500" y="1624330"/>
            <a:ext cx="863600" cy="2457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0070E8"/>
                </a:solidFill>
                <a:latin typeface="微软雅黑" panose="020B0503020204020204" pitchFamily="34" charset="-122"/>
              </a:rPr>
              <a:t>改进链</a:t>
            </a:r>
            <a:endParaRPr lang="zh-CN" altLang="en-US" sz="160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286500" y="1917700"/>
            <a:ext cx="762000" cy="0"/>
          </a:xfrm>
          <a:prstGeom prst="line">
            <a:avLst/>
          </a:prstGeom>
          <a:ln w="2032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6286500" y="2197100"/>
            <a:ext cx="279400" cy="2076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50" b="1">
                <a:solidFill>
                  <a:srgbClr val="0070E8"/>
                </a:solidFill>
                <a:latin typeface="微软雅黑" panose="020B0503020204020204" pitchFamily="34" charset="-122"/>
              </a:rPr>
              <a:t>1</a:t>
            </a:r>
            <a:endParaRPr lang="zh-CN" altLang="en-US" sz="135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6731000" y="2197100"/>
            <a:ext cx="3238500" cy="2457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333333"/>
                </a:solidFill>
                <a:latin typeface="微软雅黑" panose="020B0503020204020204" pitchFamily="34" charset="-122"/>
              </a:rPr>
              <a:t>扫描有限窗口</a:t>
            </a:r>
            <a:endParaRPr lang="zh-CN" altLang="en-US" sz="16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6731000" y="2476500"/>
            <a:ext cx="32385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只看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waiting queue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的有限候选，控制额外调度成本。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6286500" y="2959100"/>
            <a:ext cx="279400" cy="2076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50" b="1">
                <a:solidFill>
                  <a:srgbClr val="0070E8"/>
                </a:solidFill>
                <a:latin typeface="微软雅黑" panose="020B0503020204020204" pitchFamily="34" charset="-122"/>
              </a:rPr>
              <a:t>2</a:t>
            </a:r>
            <a:endParaRPr lang="zh-CN" altLang="en-US" sz="135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6731000" y="2959100"/>
            <a:ext cx="3238500" cy="2457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333333"/>
                </a:solidFill>
                <a:latin typeface="微软雅黑" panose="020B0503020204020204" pitchFamily="34" charset="-122"/>
              </a:rPr>
              <a:t>peek hit </a:t>
            </a:r>
            <a:r>
              <a:rPr lang="zh-CN" altLang="en-US" sz="1600" b="1">
                <a:solidFill>
                  <a:srgbClr val="333333"/>
                </a:solidFill>
                <a:latin typeface="微软雅黑" panose="020B0503020204020204" pitchFamily="34" charset="-122"/>
              </a:rPr>
              <a:t>校验</a:t>
            </a:r>
            <a:endParaRPr lang="zh-CN" altLang="en-US" sz="16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0"/>
            </p:custDataLst>
          </p:nvPr>
        </p:nvSpPr>
        <p:spPr>
          <a:xfrm>
            <a:off x="6731000" y="3238500"/>
            <a:ext cx="32385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用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peek_computed_tokens()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估计真实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prefix hit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，过滤误判。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6286500" y="3792855"/>
            <a:ext cx="27940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50" b="1">
                <a:solidFill>
                  <a:srgbClr val="0070E8"/>
                </a:solidFill>
                <a:latin typeface="微软雅黑" panose="020B0503020204020204" pitchFamily="34" charset="-122"/>
              </a:rPr>
              <a:t>3</a:t>
            </a:r>
            <a:endParaRPr lang="zh-CN" altLang="en-US" sz="135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6731000" y="3721100"/>
            <a:ext cx="3238500" cy="2457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333333"/>
                </a:solidFill>
                <a:latin typeface="微软雅黑" panose="020B0503020204020204" pitchFamily="34" charset="-122"/>
              </a:rPr>
              <a:t>request promotion</a:t>
            </a:r>
            <a:endParaRPr lang="zh-CN" altLang="en-US" sz="16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3"/>
            </p:custDataLst>
          </p:nvPr>
        </p:nvSpPr>
        <p:spPr>
          <a:xfrm>
            <a:off x="6731000" y="4000500"/>
            <a:ext cx="32385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family / session / hit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证据强的请求更早进入执行。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1206500" y="5143500"/>
          <a:ext cx="8433435" cy="151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670"/>
                <a:gridCol w="3300095"/>
                <a:gridCol w="2566670"/>
              </a:tblGrid>
              <a:tr h="377825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调度信号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作用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结果指标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family / durable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证据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识别真正高价值候选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prefix hit / goodput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computed tokens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确认实际可复用深度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eligible hit ratio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promotion event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留下调度证据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request_promoted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168400" y="47542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调度信号与机制的</a:t>
            </a:r>
            <a:r>
              <a:rPr lang="zh-CN" altLang="en-US"/>
              <a:t>增加：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71195" y="1050290"/>
            <a:ext cx="6377305" cy="422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现象：重建率等有明显</a:t>
            </a:r>
            <a:r>
              <a:rPr lang="zh-CN" altLang="en-US"/>
              <a:t>降低，吞吐率等性能提升</a:t>
            </a:r>
            <a:r>
              <a:rPr lang="zh-CN" altLang="en-US"/>
              <a:t>不明显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5790565" y="1506855"/>
            <a:ext cx="5014595" cy="3352165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35000" y="1506855"/>
            <a:ext cx="4954270" cy="3352165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8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P5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复用优先有副作用：需要有界 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foreground-priority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39800" y="1743710"/>
            <a:ext cx="533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D93030"/>
                </a:solidFill>
                <a:latin typeface="微软雅黑" panose="020B0503020204020204" pitchFamily="34" charset="-122"/>
              </a:rPr>
              <a:t>风险</a:t>
            </a:r>
            <a:endParaRPr lang="zh-CN" altLang="en-US" b="1">
              <a:solidFill>
                <a:srgbClr val="D9303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805180" y="2101850"/>
            <a:ext cx="744220" cy="6350"/>
          </a:xfrm>
          <a:prstGeom prst="line">
            <a:avLst/>
          </a:prstGeom>
          <a:ln w="20320">
            <a:solidFill>
              <a:srgbClr val="D93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形 7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9800" y="2400300"/>
            <a:ext cx="228600" cy="2286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473200" y="2387600"/>
            <a:ext cx="32639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1.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队首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starvation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68400" y="2670175"/>
            <a:ext cx="4285615" cy="46926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如果持续绕过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head request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，低命中请求会越等越久。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2" name="图形 11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800" y="3162300"/>
            <a:ext cx="228600" cy="2286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473200" y="3149600"/>
            <a:ext cx="4087495" cy="40449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2.decode-heavy / background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受伤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73200" y="3429000"/>
            <a:ext cx="3980815" cy="44640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长输出和后台任务可能被热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prefix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请求持续挤压。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6" name="图形 15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800" y="3924300"/>
            <a:ext cx="228600" cy="2286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473200" y="3911600"/>
            <a:ext cx="32639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3.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前台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后台混部更敏感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473200" y="4191000"/>
            <a:ext cx="3980815" cy="53149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latency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场景里既要保护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foreground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，又不能让公平性失控。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84900" y="1739900"/>
            <a:ext cx="618490" cy="35179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保护</a:t>
            </a:r>
            <a:endParaRPr lang="zh-CN" altLang="en-US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6101715" y="2101850"/>
            <a:ext cx="616585" cy="6350"/>
          </a:xfrm>
          <a:prstGeom prst="line">
            <a:avLst/>
          </a:prstGeom>
          <a:ln w="2032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形 22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6500" y="2400300"/>
            <a:ext cx="228600" cy="22860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863080" y="2387600"/>
            <a:ext cx="32639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1.age guard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863080" y="2667000"/>
            <a:ext cx="32639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等待太久的请求不再继续被绕过。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7" name="图形 26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3162300"/>
            <a:ext cx="228600" cy="2286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6863080" y="3166745"/>
            <a:ext cx="32639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2.defer cap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863080" y="3429000"/>
            <a:ext cx="32639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限制一个调度周期里可跳过的请求数量。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1" name="图形 30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86500" y="3924300"/>
            <a:ext cx="228600" cy="22860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6863080" y="3890645"/>
            <a:ext cx="32639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3.latency-protected classes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863080" y="4170045"/>
            <a:ext cx="3467735" cy="5207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foreground / SLO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临界请求获得额外保护。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1087120" y="4960620"/>
          <a:ext cx="9243695" cy="150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8725"/>
                <a:gridCol w="3622040"/>
                <a:gridCol w="3122930"/>
              </a:tblGrid>
              <a:tr h="375920"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机制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限制的风险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对应事件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age guard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长期绕过队首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promotion skip / head age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defer cap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单步过度重排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request deferred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latency-protected classes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前台接近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SLO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request_latency_promoted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54050" y="1141095"/>
            <a:ext cx="6308090" cy="325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现象：部分实验中，</a:t>
            </a:r>
            <a:r>
              <a:rPr lang="en-US" altLang="zh-CN"/>
              <a:t>P95</a:t>
            </a:r>
            <a:r>
              <a:rPr lang="zh-CN" altLang="en-US"/>
              <a:t>等尾延迟有明显</a:t>
            </a:r>
            <a:r>
              <a:rPr lang="zh-CN" altLang="en-US"/>
              <a:t>升高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>
            <p:custDataLst>
              <p:tags r:id="rId1"/>
            </p:custDataLst>
          </p:nvPr>
        </p:nvSpPr>
        <p:spPr>
          <a:xfrm>
            <a:off x="5812155" y="4059555"/>
            <a:ext cx="4284345" cy="124841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859790" y="4054475"/>
            <a:ext cx="4360545" cy="125349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5812790" y="2374265"/>
            <a:ext cx="4283710" cy="121539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859790" y="2356485"/>
            <a:ext cx="4360545" cy="123698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9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P6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 partial / stalled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难识别：补齐诊断与可视化工具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5000" y="1135380"/>
            <a:ext cx="9271000" cy="110744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现象：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1.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远程长测持续时间长，运行中可能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partial、stalled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或只有部分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policy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完成。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         2.lifecycle JSONL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事件量大，人工看日志难以解释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block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生命周期。</a:t>
            </a:r>
            <a:b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</a:b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         3.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缺少实时监视和跟踪的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可视化工具。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  <a:p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7" name="图形 6"/>
          <p:cNvPicPr/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2035" y="2663825"/>
            <a:ext cx="393065" cy="37084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562100" y="2704465"/>
            <a:ext cx="3200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run_state / policy_state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562100" y="2983865"/>
            <a:ext cx="3200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completed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failed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partial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stalled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2" name="图形 11"/>
          <p:cNvPicPr/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81700" y="2704465"/>
            <a:ext cx="279400" cy="2794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6515100" y="2704465"/>
            <a:ext cx="3200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heartbeat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6515100" y="2983865"/>
            <a:ext cx="3200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运行中的时间戳、阶段和进度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7" name="图形 16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2035" y="4304030"/>
            <a:ext cx="393065" cy="356235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1562100" y="4418965"/>
            <a:ext cx="3200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acceptance summary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1562100" y="4698365"/>
            <a:ext cx="3200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多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policy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结果自动对齐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2" name="图形 21"/>
          <p:cNvPicPr/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981700" y="4304030"/>
            <a:ext cx="406400" cy="356235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6515100" y="4418965"/>
            <a:ext cx="3200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replay / dashboard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6515100" y="4698365"/>
            <a:ext cx="3200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block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生命周期可视化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651000" y="5650865"/>
            <a:ext cx="8255000" cy="61531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0070E8"/>
                </a:solidFill>
                <a:latin typeface="微软雅黑" panose="020B0503020204020204" pitchFamily="34" charset="-122"/>
              </a:rPr>
              <a:t>长测不再是黑盒，可实时跟踪监视。</a:t>
            </a:r>
            <a:br>
              <a:rPr lang="zh-CN" altLang="en-US" sz="2000" b="1">
                <a:solidFill>
                  <a:srgbClr val="0070E8"/>
                </a:solidFill>
                <a:latin typeface="微软雅黑" panose="020B0503020204020204" pitchFamily="34" charset="-122"/>
              </a:rPr>
            </a:br>
            <a:r>
              <a:rPr lang="zh-CN" altLang="en-US" sz="2000" b="1">
                <a:solidFill>
                  <a:srgbClr val="0070E8"/>
                </a:solidFill>
                <a:latin typeface="微软雅黑" panose="020B0503020204020204" pitchFamily="34" charset="-122"/>
              </a:rPr>
              <a:t>失败能定位，结果能解释，生命周期能展示。</a:t>
            </a:r>
            <a:endParaRPr lang="zh-CN" altLang="en-US" sz="200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364730" y="532765"/>
            <a:ext cx="3731895" cy="4685665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10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P7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各种机制增多，策略过于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分立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35000" y="1753235"/>
          <a:ext cx="6540500" cy="2397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65"/>
                <a:gridCol w="2496185"/>
                <a:gridCol w="2495550"/>
              </a:tblGrid>
              <a:tr h="479425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控制项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控制对象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解决的问题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Admission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哪些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full blocks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能进入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prefix cache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低价值请求少写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cache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Eviction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驱逐时保护哪些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block / family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降低错误驱逐和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rebuilt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Schedule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waiting queue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是否重排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把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cache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质量转成调度收益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SLO protect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哪些请求接近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SLO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时被保护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前台延迟保护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576185" y="645795"/>
            <a:ext cx="3347720" cy="85979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2400" b="1">
                <a:solidFill>
                  <a:srgbClr val="0070E8"/>
                </a:solidFill>
                <a:latin typeface="微软雅黑" panose="020B0503020204020204" pitchFamily="34" charset="-122"/>
              </a:rPr>
              <a:t>参数权重的大小体现</a:t>
            </a:r>
            <a:r>
              <a:rPr lang="zh-CN" altLang="en-US" sz="2400" b="1">
                <a:solidFill>
                  <a:srgbClr val="0070E8"/>
                </a:solidFill>
                <a:latin typeface="微软雅黑" panose="020B0503020204020204" pitchFamily="34" charset="-122"/>
              </a:rPr>
              <a:t>各种机制生效的</a:t>
            </a:r>
            <a:r>
              <a:rPr lang="zh-CN" altLang="en-US" sz="2400" b="1">
                <a:solidFill>
                  <a:srgbClr val="0070E8"/>
                </a:solidFill>
                <a:latin typeface="微软雅黑" panose="020B0503020204020204" pitchFamily="34" charset="-122"/>
              </a:rPr>
              <a:t>强度</a:t>
            </a:r>
            <a:endParaRPr lang="zh-CN" altLang="en-US" sz="240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8200" y="4493260"/>
            <a:ext cx="2137410" cy="25590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b="1">
                <a:solidFill>
                  <a:srgbClr val="D97A24"/>
                </a:solidFill>
                <a:latin typeface="微软雅黑" panose="020B0503020204020204" pitchFamily="34" charset="-122"/>
              </a:rPr>
              <a:t>为什么要统一</a:t>
            </a:r>
            <a:endParaRPr lang="zh-CN" altLang="en-US" b="1">
              <a:solidFill>
                <a:srgbClr val="D97A24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914400" y="4864100"/>
            <a:ext cx="1143000" cy="0"/>
          </a:xfrm>
          <a:prstGeom prst="line">
            <a:avLst/>
          </a:prstGeom>
          <a:ln w="20320">
            <a:solidFill>
              <a:srgbClr val="D97A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形 14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4978400"/>
            <a:ext cx="355600" cy="3429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397000" y="5001260"/>
            <a:ext cx="8534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从策略名转到参数向量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97000" y="5359400"/>
            <a:ext cx="8534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Admission / Eviction / Schedule / SLO protect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综合调节，矩阵结果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可复现、可解释。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5000" y="110680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rgbClr val="333333"/>
                </a:solidFill>
                <a:latin typeface="微软雅黑" panose="020B0503020204020204" pitchFamily="34" charset="-122"/>
                <a:sym typeface="+mn-ea"/>
              </a:rPr>
              <a:t>统一为 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pitchFamily="34" charset="-122"/>
                <a:sym typeface="+mn-ea"/>
              </a:rPr>
              <a:t>KVFabric controller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pitchFamily="34" charset="-122"/>
                <a:sym typeface="+mn-ea"/>
              </a:rPr>
              <a:t>，</a:t>
            </a:r>
            <a:r>
              <a:rPr lang="zh-CN" altLang="en-US" sz="2000" b="1">
                <a:solidFill>
                  <a:srgbClr val="333333"/>
                </a:solidFill>
                <a:latin typeface="微软雅黑" panose="020B0503020204020204" pitchFamily="34" charset="-122"/>
                <a:sym typeface="+mn-ea"/>
              </a:rPr>
              <a:t>参数化处理</a:t>
            </a:r>
            <a:endParaRPr lang="zh-CN" altLang="en-US" sz="2000" b="1">
              <a:solidFill>
                <a:srgbClr val="333333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576185" y="1505585"/>
            <a:ext cx="3442970" cy="3255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Admission </a:t>
            </a:r>
            <a:r>
              <a:rPr lang="zh-CN" altLang="en-US" sz="1400"/>
              <a:t>控制 </a:t>
            </a:r>
            <a:r>
              <a:rPr lang="en-US" altLang="zh-CN" sz="1400" b="1"/>
              <a:t>low</a:t>
            </a:r>
            <a:r>
              <a:rPr lang="en-US" altLang="zh-CN" sz="1400"/>
              <a:t> / </a:t>
            </a:r>
            <a:r>
              <a:rPr lang="en-US" altLang="zh-CN" sz="1400" b="1"/>
              <a:t>no-reuse</a:t>
            </a:r>
            <a:r>
              <a:rPr lang="en-US" altLang="zh-CN" sz="1400"/>
              <a:t> / </a:t>
            </a:r>
            <a:r>
              <a:rPr lang="en-US" altLang="zh-CN" sz="1400" b="1"/>
              <a:t>bypass</a:t>
            </a:r>
            <a:r>
              <a:rPr lang="en-US" altLang="zh-CN" sz="1400"/>
              <a:t> /</a:t>
            </a:r>
            <a:r>
              <a:rPr lang="en-US" altLang="zh-CN" sz="1400" b="1"/>
              <a:t> transient </a:t>
            </a:r>
            <a:r>
              <a:rPr lang="en-US" altLang="zh-CN" sz="1400"/>
              <a:t>/ </a:t>
            </a:r>
            <a:r>
              <a:rPr lang="en-US" altLang="zh-CN" sz="1400" b="1"/>
              <a:t>durable</a:t>
            </a:r>
            <a:r>
              <a:rPr lang="en-US" altLang="zh-CN" sz="1400"/>
              <a:t> </a:t>
            </a:r>
            <a:r>
              <a:rPr lang="zh-CN" altLang="en-US" sz="1400"/>
              <a:t>等 </a:t>
            </a:r>
            <a:r>
              <a:rPr lang="en-US" altLang="zh-CN" sz="1400"/>
              <a:t>hint </a:t>
            </a:r>
            <a:r>
              <a:rPr lang="zh-CN" altLang="en-US" sz="1400"/>
              <a:t>的缓存比例、</a:t>
            </a:r>
            <a:r>
              <a:rPr lang="en-US" altLang="zh-CN" sz="1400" b="1"/>
              <a:t>discovery tokens</a:t>
            </a:r>
            <a:r>
              <a:rPr lang="en-US" altLang="zh-CN" sz="1400"/>
              <a:t> </a:t>
            </a:r>
            <a:r>
              <a:rPr lang="zh-CN" altLang="en-US" sz="1400"/>
              <a:t>和 </a:t>
            </a:r>
            <a:r>
              <a:rPr lang="en-US" altLang="zh-CN" sz="1400" b="1"/>
              <a:t>minimum cached blocks</a:t>
            </a:r>
            <a:r>
              <a:rPr lang="en-US" altLang="zh-CN" sz="1400"/>
              <a:t>。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Eviction </a:t>
            </a:r>
            <a:r>
              <a:rPr lang="zh-CN" altLang="en-US" sz="1400"/>
              <a:t>控制 </a:t>
            </a:r>
            <a:r>
              <a:rPr lang="en-US" altLang="zh-CN" sz="1400" b="1"/>
              <a:t>retain score</a:t>
            </a:r>
            <a:r>
              <a:rPr lang="en-US" altLang="zh-CN" sz="1400"/>
              <a:t>、</a:t>
            </a:r>
            <a:r>
              <a:rPr lang="en-US" altLang="zh-CN" sz="1400" b="1"/>
              <a:t>shared-aware </a:t>
            </a:r>
            <a:r>
              <a:rPr lang="zh-CN" altLang="en-US" sz="1400"/>
              <a:t>权重、</a:t>
            </a:r>
            <a:r>
              <a:rPr lang="en-US" altLang="zh-CN" sz="1400" b="1"/>
              <a:t>family-protect</a:t>
            </a:r>
            <a:r>
              <a:rPr lang="en-US" altLang="zh-CN" sz="1400"/>
              <a:t>、</a:t>
            </a:r>
            <a:r>
              <a:rPr lang="en-US" altLang="zh-CN" sz="1400" b="1"/>
              <a:t>protected depth</a:t>
            </a:r>
            <a:r>
              <a:rPr lang="en-US" altLang="zh-CN" sz="1400"/>
              <a:t>、</a:t>
            </a:r>
            <a:r>
              <a:rPr lang="en-US" altLang="zh-CN" sz="1400" b="1"/>
              <a:t>regret feedback</a:t>
            </a:r>
            <a:r>
              <a:rPr lang="zh-CN" altLang="en-US" sz="1400" b="1"/>
              <a:t>。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Schedule </a:t>
            </a:r>
            <a:r>
              <a:rPr lang="zh-CN" altLang="en-US" sz="1400"/>
              <a:t>控制 </a:t>
            </a:r>
            <a:r>
              <a:rPr lang="en-US" altLang="zh-CN" sz="1400" b="1"/>
              <a:t>hit-aware promotion</a:t>
            </a:r>
            <a:r>
              <a:rPr lang="en-US" altLang="zh-CN" sz="1400"/>
              <a:t>、</a:t>
            </a:r>
            <a:r>
              <a:rPr lang="en-US" altLang="zh-CN" sz="1400" b="1"/>
              <a:t>latency promotion</a:t>
            </a:r>
            <a:r>
              <a:rPr lang="en-US" altLang="zh-CN" sz="1400"/>
              <a:t>、</a:t>
            </a:r>
            <a:r>
              <a:rPr lang="en-US" altLang="zh-CN" sz="1400" b="1"/>
              <a:t>scan window</a:t>
            </a:r>
            <a:r>
              <a:rPr lang="en-US" altLang="zh-CN" sz="1400"/>
              <a:t>、</a:t>
            </a:r>
            <a:r>
              <a:rPr lang="en-US" altLang="zh-CN" sz="1400" b="1"/>
              <a:t>defer cap</a:t>
            </a:r>
            <a:r>
              <a:rPr lang="en-US" altLang="zh-CN" sz="1400"/>
              <a:t>、</a:t>
            </a:r>
            <a:r>
              <a:rPr lang="en-US" altLang="zh-CN" sz="1400" b="1"/>
              <a:t>age guard</a:t>
            </a:r>
            <a:r>
              <a:rPr lang="en-US" altLang="zh-CN" sz="1400"/>
              <a:t>。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SLO protect </a:t>
            </a:r>
            <a:r>
              <a:rPr lang="zh-CN" altLang="en-US" sz="1400"/>
              <a:t>控制 </a:t>
            </a:r>
            <a:r>
              <a:rPr lang="en-US" altLang="zh-CN" sz="1400" b="1"/>
              <a:t>foreground classes</a:t>
            </a:r>
            <a:r>
              <a:rPr lang="en-US" altLang="zh-CN" sz="1400"/>
              <a:t>、</a:t>
            </a:r>
            <a:r>
              <a:rPr lang="en-US" altLang="zh-CN" sz="1400" b="1"/>
              <a:t>target SLO</a:t>
            </a:r>
            <a:r>
              <a:rPr lang="en-US" altLang="zh-CN" sz="1400"/>
              <a:t>、</a:t>
            </a:r>
            <a:r>
              <a:rPr lang="en-US" altLang="zh-CN" sz="1400" b="1"/>
              <a:t>latency score</a:t>
            </a:r>
            <a:r>
              <a:rPr lang="en-US" altLang="zh-CN" sz="1400"/>
              <a:t> </a:t>
            </a:r>
            <a:r>
              <a:rPr lang="zh-CN" altLang="en-US" sz="1400"/>
              <a:t>权重。</a:t>
            </a:r>
            <a:endParaRPr lang="zh-CN" alt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5791200" y="1939925"/>
            <a:ext cx="4878070" cy="273558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68960" y="1939925"/>
            <a:ext cx="4884420" cy="273558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11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P8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冷流量先污染 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cache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后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再被驱逐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57910" y="2106295"/>
            <a:ext cx="1238250" cy="3238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b="1">
                <a:solidFill>
                  <a:srgbClr val="D93030"/>
                </a:solidFill>
                <a:latin typeface="微软雅黑" panose="020B0503020204020204" pitchFamily="34" charset="-122"/>
              </a:rPr>
              <a:t>旧路径</a:t>
            </a:r>
            <a:endParaRPr lang="zh-CN" altLang="en-US" b="1">
              <a:solidFill>
                <a:srgbClr val="D9303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117600" y="2422525"/>
            <a:ext cx="508000" cy="0"/>
          </a:xfrm>
          <a:prstGeom prst="line">
            <a:avLst/>
          </a:prstGeom>
          <a:ln w="20320">
            <a:solidFill>
              <a:srgbClr val="D93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形 7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8365" y="2655570"/>
            <a:ext cx="304800" cy="31305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473200" y="2727325"/>
            <a:ext cx="3892550" cy="52895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1.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长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cold prompt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先完整写入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cache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473200" y="3006725"/>
            <a:ext cx="32639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future reuse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低，但已经占用大量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block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，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churn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已经发生。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2" name="图形 11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365" y="3667125"/>
            <a:ext cx="304800" cy="32575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1473200" y="3717925"/>
            <a:ext cx="32639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2.eviction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只能事后补救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1473200" y="3997325"/>
            <a:ext cx="32639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就算后面优先驱逐冷块，也已经挤压了热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family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且造成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资源浪费。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18555" y="2102485"/>
            <a:ext cx="1109980" cy="41529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新路径</a:t>
            </a:r>
            <a:endParaRPr lang="zh-CN" altLang="en-US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286500" y="2422525"/>
            <a:ext cx="533400" cy="0"/>
          </a:xfrm>
          <a:prstGeom prst="line">
            <a:avLst/>
          </a:prstGeom>
          <a:ln w="2032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形 18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0" y="2656205"/>
            <a:ext cx="351155" cy="29972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6642100" y="2727325"/>
            <a:ext cx="32639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1.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进入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prefix cache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前先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limit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3"/>
            </p:custDataLst>
          </p:nvPr>
        </p:nvSpPr>
        <p:spPr>
          <a:xfrm>
            <a:off x="6642100" y="3006725"/>
            <a:ext cx="3898265" cy="58991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在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SingleTypeKVCacheManager.cache_blocks()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做唯一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admission limit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3" name="图形 22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96000" y="3602990"/>
            <a:ext cx="351155" cy="35623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17"/>
            </p:custDataLst>
          </p:nvPr>
        </p:nvSpPr>
        <p:spPr>
          <a:xfrm>
            <a:off x="6642100" y="3717925"/>
            <a:ext cx="32639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2.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保留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durable/session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机会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8"/>
            </p:custDataLst>
          </p:nvPr>
        </p:nvSpPr>
        <p:spPr>
          <a:xfrm>
            <a:off x="6642100" y="3997325"/>
            <a:ext cx="32639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low / bypass / transient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更容易被限制，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hot family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首次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warmup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保留空间。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1057910" y="4889500"/>
          <a:ext cx="9376410" cy="1628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1825"/>
                <a:gridCol w="3170555"/>
                <a:gridCol w="3034030"/>
              </a:tblGrid>
              <a:tr h="407035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代码改动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目标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证据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407035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single limit path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避免 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double-limit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cached block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数量一致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07035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cache_admission_limited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记录 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saved blocks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limited class / reason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07035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BlockPool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不再重复截断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保持 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hash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语义稳定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block hash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一致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68325" y="979170"/>
            <a:ext cx="5946775" cy="829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现象：</a:t>
            </a:r>
            <a:r>
              <a:rPr lang="en-US" altLang="zh-CN" sz="1600"/>
              <a:t>cold RAG unique / burst </a:t>
            </a:r>
            <a:r>
              <a:rPr lang="zh-CN" altLang="en-US" sz="1600"/>
              <a:t>会持续写入 </a:t>
            </a:r>
            <a:r>
              <a:rPr lang="en-US" altLang="zh-CN" sz="1600"/>
              <a:t>prefix cache。</a:t>
            </a:r>
            <a:endParaRPr lang="en-US" altLang="zh-CN" sz="1600"/>
          </a:p>
          <a:p>
            <a:r>
              <a:rPr lang="en-US" altLang="zh-CN" sz="1600"/>
              <a:t>eviction </a:t>
            </a:r>
            <a:r>
              <a:rPr lang="zh-CN" altLang="en-US" sz="1600"/>
              <a:t>后续可以优先驱逐冷块，但冷块进入 </a:t>
            </a:r>
            <a:r>
              <a:rPr lang="en-US" altLang="zh-CN" sz="1600"/>
              <a:t>prefix cache </a:t>
            </a:r>
            <a:r>
              <a:rPr lang="zh-CN" altLang="en-US" sz="1600"/>
              <a:t>时已经制造 </a:t>
            </a:r>
            <a:r>
              <a:rPr lang="en-US" altLang="zh-CN" sz="1600"/>
              <a:t>churn</a:t>
            </a:r>
            <a:r>
              <a:rPr lang="zh-CN" altLang="en-US" sz="1600"/>
              <a:t>，导致性能吞吐等浪费和延迟</a:t>
            </a:r>
            <a:r>
              <a:rPr lang="zh-CN" altLang="en-US" sz="1600"/>
              <a:t>升高。</a:t>
            </a:r>
            <a:endParaRPr lang="zh-CN" altLang="en-US" sz="1600"/>
          </a:p>
        </p:txBody>
      </p:sp>
      <p:sp>
        <p:nvSpPr>
          <p:cNvPr id="18" name="文本框 17"/>
          <p:cNvSpPr txBox="1"/>
          <p:nvPr/>
        </p:nvSpPr>
        <p:spPr>
          <a:xfrm>
            <a:off x="7395845" y="20618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Admission </a:t>
            </a:r>
            <a:r>
              <a:rPr lang="zh-CN" altLang="en-US" b="1"/>
              <a:t>路径重构</a:t>
            </a:r>
            <a:endParaRPr lang="zh-CN" altLang="en-US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12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P9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延迟保护失效，请求比例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失真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049655" y="3016885"/>
            <a:ext cx="27940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50" b="1">
                <a:solidFill>
                  <a:srgbClr val="0070E8"/>
                </a:solidFill>
                <a:latin typeface="微软雅黑" panose="020B0503020204020204" pitchFamily="34" charset="-122"/>
              </a:rPr>
              <a:t>1</a:t>
            </a:r>
            <a:endParaRPr lang="zh-CN" altLang="en-US" sz="135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303655" y="3016885"/>
            <a:ext cx="2540000" cy="56134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OpenAI serving / tracing </a:t>
            </a:r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路径最初没有完整透传 </a:t>
            </a:r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SLO、session、turn、hint confidence。</a:t>
            </a:r>
            <a:endParaRPr lang="en-US" altLang="zh-CN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231005" y="2996565"/>
            <a:ext cx="27940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50" b="1">
                <a:solidFill>
                  <a:srgbClr val="0070E8"/>
                </a:solidFill>
                <a:latin typeface="微软雅黑" panose="020B0503020204020204" pitchFamily="34" charset="-122"/>
              </a:rPr>
              <a:t>2</a:t>
            </a:r>
            <a:endParaRPr lang="zh-CN" altLang="en-US" sz="135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4528820" y="3016885"/>
            <a:ext cx="2540000" cy="56134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没有足够 </a:t>
            </a:r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queue pressure </a:t>
            </a:r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时，</a:t>
            </a:r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scheduler </a:t>
            </a:r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即使有 </a:t>
            </a:r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latency policy </a:t>
            </a:r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也缺少可提升候选。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7526655" y="2996565"/>
            <a:ext cx="27940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50" b="1">
                <a:solidFill>
                  <a:srgbClr val="0070E8"/>
                </a:solidFill>
                <a:latin typeface="微软雅黑" panose="020B0503020204020204" pitchFamily="34" charset="-122"/>
              </a:rPr>
              <a:t>3</a:t>
            </a:r>
            <a:endParaRPr lang="zh-CN" altLang="en-US" sz="135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7806055" y="2996565"/>
            <a:ext cx="2540000" cy="748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只按 </a:t>
            </a:r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SLO </a:t>
            </a:r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临界程度提升会把 </a:t>
            </a:r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background / decode-heavy </a:t>
            </a:r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一起推上来，无法体现 </a:t>
            </a:r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foreground-priority。</a:t>
            </a:r>
            <a:endParaRPr lang="en-US" altLang="zh-CN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952500" y="4031615"/>
          <a:ext cx="9398000" cy="170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/>
                <a:gridCol w="6223000"/>
              </a:tblGrid>
              <a:tr h="428625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修复项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作用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x-kvfabric-slo-ms / session / turn / confidence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让 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latency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策略看到真实请求语义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19735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background injection / class weights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构造前台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后台混部，避免前台比例被 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session reuse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稀释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latency promotion scoring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从简单提升改成带惩罚项的评分选择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329055" y="6094730"/>
            <a:ext cx="8102600" cy="72453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b="1">
                <a:solidFill>
                  <a:srgbClr val="0070E8"/>
                </a:solidFill>
                <a:latin typeface="微软雅黑" panose="020B0503020204020204" pitchFamily="34" charset="-122"/>
              </a:rPr>
              <a:t>scheduler </a:t>
            </a:r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算法、请求元数据和 </a:t>
            </a:r>
            <a:r>
              <a:rPr lang="en-US" altLang="zh-CN" b="1">
                <a:solidFill>
                  <a:srgbClr val="0070E8"/>
                </a:solidFill>
                <a:latin typeface="微软雅黑" panose="020B0503020204020204" pitchFamily="34" charset="-122"/>
              </a:rPr>
              <a:t>workload </a:t>
            </a:r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形态必须同时对齐，</a:t>
            </a:r>
            <a:r>
              <a:rPr lang="en-US" altLang="zh-CN" b="1">
                <a:solidFill>
                  <a:srgbClr val="0070E8"/>
                </a:solidFill>
                <a:latin typeface="微软雅黑" panose="020B0503020204020204" pitchFamily="34" charset="-122"/>
              </a:rPr>
              <a:t>foreground-priority </a:t>
            </a:r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才能稳定生效。</a:t>
            </a:r>
            <a:endParaRPr lang="zh-CN" altLang="en-US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02945" y="1024890"/>
            <a:ext cx="7703185" cy="1755775"/>
          </a:xfrm>
          <a:prstGeom prst="round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16000" y="1061085"/>
            <a:ext cx="6819900" cy="1294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ym typeface="+mn-ea"/>
              </a:rPr>
              <a:t>现象：</a:t>
            </a:r>
            <a:r>
              <a:rPr lang="en-US" altLang="zh-CN" sz="1600" b="1">
                <a:sym typeface="+mn-ea"/>
              </a:rPr>
              <a:t>1.latency </a:t>
            </a:r>
            <a:r>
              <a:rPr lang="zh-CN" altLang="en-US" sz="1600" b="1">
                <a:sym typeface="+mn-ea"/>
              </a:rPr>
              <a:t>初期 </a:t>
            </a:r>
            <a:r>
              <a:rPr lang="en-US" altLang="zh-CN" sz="1600" b="1">
                <a:sym typeface="+mn-ea"/>
              </a:rPr>
              <a:t>promotion </a:t>
            </a:r>
            <a:r>
              <a:rPr lang="zh-CN" altLang="en-US" sz="1600" b="1">
                <a:sym typeface="+mn-ea"/>
              </a:rPr>
              <a:t>为 0。</a:t>
            </a:r>
            <a:endParaRPr lang="zh-CN" altLang="en-US" sz="1600" b="1"/>
          </a:p>
          <a:p>
            <a:r>
              <a:rPr lang="en-US" altLang="zh-CN" sz="1600" b="1">
                <a:sym typeface="+mn-ea"/>
              </a:rPr>
              <a:t>2.lifecycle </a:t>
            </a:r>
            <a:r>
              <a:rPr lang="zh-CN" altLang="en-US" sz="1600" b="1">
                <a:sym typeface="+mn-ea"/>
              </a:rPr>
              <a:t>里出现 </a:t>
            </a:r>
            <a:r>
              <a:rPr lang="en-US" altLang="zh-CN" sz="1600" b="1">
                <a:sym typeface="+mn-ea"/>
              </a:rPr>
              <a:t>hint_slo_ms=0，session/turn </a:t>
            </a:r>
            <a:r>
              <a:rPr lang="zh-CN" altLang="en-US" sz="1600" b="1">
                <a:sym typeface="+mn-ea"/>
              </a:rPr>
              <a:t>缺失。</a:t>
            </a:r>
            <a:endParaRPr lang="zh-CN" altLang="en-US" sz="1600" b="1"/>
          </a:p>
          <a:p>
            <a:r>
              <a:rPr lang="en-US" altLang="zh-CN" sz="1600" b="1">
                <a:sym typeface="+mn-ea"/>
              </a:rPr>
              <a:t>3.</a:t>
            </a:r>
            <a:r>
              <a:rPr lang="zh-CN" altLang="en-US" sz="1600" b="1">
                <a:sym typeface="+mn-ea"/>
              </a:rPr>
              <a:t>修完 </a:t>
            </a:r>
            <a:r>
              <a:rPr lang="en-US" altLang="zh-CN" sz="1600" b="1">
                <a:sym typeface="+mn-ea"/>
              </a:rPr>
              <a:t>header </a:t>
            </a:r>
            <a:r>
              <a:rPr lang="zh-CN" altLang="en-US" sz="1600" b="1">
                <a:sym typeface="+mn-ea"/>
              </a:rPr>
              <a:t>后，</a:t>
            </a:r>
            <a:r>
              <a:rPr lang="en-US" altLang="zh-CN" sz="1600" b="1">
                <a:sym typeface="+mn-ea"/>
              </a:rPr>
              <a:t>queue pressure </a:t>
            </a:r>
            <a:r>
              <a:rPr lang="zh-CN" altLang="en-US" sz="1600" b="1">
                <a:sym typeface="+mn-ea"/>
              </a:rPr>
              <a:t>不够，</a:t>
            </a:r>
            <a:r>
              <a:rPr lang="en-US" altLang="zh-CN" sz="1600" b="1">
                <a:sym typeface="+mn-ea"/>
              </a:rPr>
              <a:t>scheduler </a:t>
            </a:r>
            <a:r>
              <a:rPr lang="zh-CN" altLang="en-US" sz="1600" b="1">
                <a:sym typeface="+mn-ea"/>
              </a:rPr>
              <a:t>没有足够重排空间。</a:t>
            </a:r>
            <a:endParaRPr lang="zh-CN" altLang="en-US" sz="1600" b="1"/>
          </a:p>
          <a:p>
            <a:r>
              <a:rPr lang="en-US" altLang="zh-CN" sz="1600" b="1">
                <a:sym typeface="+mn-ea"/>
              </a:rPr>
              <a:t>4.queue pressure </a:t>
            </a:r>
            <a:r>
              <a:rPr lang="zh-CN" altLang="en-US" sz="1600" b="1">
                <a:sym typeface="+mn-ea"/>
              </a:rPr>
              <a:t>足够后，</a:t>
            </a:r>
            <a:r>
              <a:rPr lang="en-US" altLang="zh-CN" sz="1600" b="1">
                <a:sym typeface="+mn-ea"/>
              </a:rPr>
              <a:t>background / decode-heavy </a:t>
            </a:r>
            <a:r>
              <a:rPr lang="zh-CN" altLang="en-US" sz="1600" b="1">
                <a:sym typeface="+mn-ea"/>
              </a:rPr>
              <a:t>也被误提升。</a:t>
            </a:r>
            <a:endParaRPr lang="zh-CN" altLang="en-US" sz="1600" b="1"/>
          </a:p>
          <a:p>
            <a:r>
              <a:rPr lang="en-US" altLang="zh-CN" sz="1600" b="1">
                <a:sym typeface="+mn-ea"/>
              </a:rPr>
              <a:t>5.class_weights </a:t>
            </a:r>
            <a:r>
              <a:rPr lang="zh-CN" altLang="en-US" sz="1600" b="1">
                <a:sym typeface="+mn-ea"/>
              </a:rPr>
              <a:t>会被 </a:t>
            </a:r>
            <a:r>
              <a:rPr lang="en-US" altLang="zh-CN" sz="1600" b="1">
                <a:sym typeface="+mn-ea"/>
              </a:rPr>
              <a:t>session reuse </a:t>
            </a:r>
            <a:r>
              <a:rPr lang="zh-CN" altLang="en-US" sz="1600" b="1">
                <a:sym typeface="+mn-ea"/>
              </a:rPr>
              <a:t>放大，导致前台/后台比例失真。</a:t>
            </a:r>
            <a:endParaRPr lang="zh-CN" altLang="en-US" sz="1600"/>
          </a:p>
        </p:txBody>
      </p:sp>
      <p:sp>
        <p:nvSpPr>
          <p:cNvPr id="18" name="文本框 17"/>
          <p:cNvSpPr txBox="1"/>
          <p:nvPr/>
        </p:nvSpPr>
        <p:spPr>
          <a:xfrm>
            <a:off x="160655" y="2946400"/>
            <a:ext cx="659765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根因：</a:t>
            </a:r>
            <a:endParaRPr lang="zh-CN" altLang="en-US"/>
          </a:p>
        </p:txBody>
      </p:sp>
      <p:sp>
        <p:nvSpPr>
          <p:cNvPr id="19" name="圆角矩形 18"/>
          <p:cNvSpPr/>
          <p:nvPr>
            <p:custDataLst>
              <p:tags r:id="rId7"/>
            </p:custDataLst>
          </p:nvPr>
        </p:nvSpPr>
        <p:spPr>
          <a:xfrm>
            <a:off x="857885" y="2938145"/>
            <a:ext cx="3213735" cy="93535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>
            <p:custDataLst>
              <p:tags r:id="rId8"/>
            </p:custDataLst>
          </p:nvPr>
        </p:nvSpPr>
        <p:spPr>
          <a:xfrm>
            <a:off x="4160520" y="2946400"/>
            <a:ext cx="3162935" cy="92710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>
            <p:custDataLst>
              <p:tags r:id="rId9"/>
            </p:custDataLst>
          </p:nvPr>
        </p:nvSpPr>
        <p:spPr>
          <a:xfrm>
            <a:off x="7412355" y="2907665"/>
            <a:ext cx="3307080" cy="98615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调试工具与可视化工具</a:t>
            </a:r>
            <a:endParaRPr lang="zh-CN" altLang="en-US" b="1" dirty="0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2000">
                <a:solidFill>
                  <a:srgbClr val="5D6674"/>
                </a:solidFill>
                <a:latin typeface="微软雅黑" panose="020B0503020204020204" pitchFamily="34" charset="-122"/>
              </a:rPr>
              <a:t>长测定位、生命周期复盘和展示工具</a:t>
            </a:r>
            <a:endParaRPr lang="zh-CN" altLang="en-US" sz="2000" dirty="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13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14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调试工具总览：从事件、指标到 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replay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" name="图形 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9145" y="4827270"/>
            <a:ext cx="338455" cy="381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44600" y="496697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Lifecycle JSONL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4600" y="524637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block/request/family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事件流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" name="图形 8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7865" y="4827270"/>
            <a:ext cx="356235" cy="381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721100" y="496697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Prometheus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21100" y="524637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服务端资源与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cache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指标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3" name="图形 12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4365" y="4827270"/>
            <a:ext cx="356235" cy="3810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197600" y="496697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Online metrics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197600" y="524637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latency / e2e / goodput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7" name="图形 16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38795" y="4827270"/>
            <a:ext cx="408305" cy="38100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8674100" y="496697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Trace summary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674100" y="524637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workload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分布检查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1" name="图形 20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0255" y="5596890"/>
            <a:ext cx="347345" cy="38989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244600" y="574548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Acceptance summary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44600" y="602488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多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policy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自动对齐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5" name="图形 24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37865" y="5655945"/>
            <a:ext cx="356235" cy="33083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3721100" y="574548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Run state / heartbeat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721100" y="602488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completed/partial/stalled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9" name="图形 28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14365" y="5655945"/>
            <a:ext cx="356235" cy="330835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6308090" y="574548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Parser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335395" y="602488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JSONL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容错解析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3" name="图形 32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90865" y="5655945"/>
            <a:ext cx="356235" cy="330835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8674100" y="574548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Replay / Dashboard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674100" y="602488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生命周期可视化展示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0255" y="1184910"/>
            <a:ext cx="9988550" cy="31051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15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Lifecycle JSONL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KV block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生命周期的事件级证据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77495" y="1422400"/>
          <a:ext cx="4982845" cy="4314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860"/>
                <a:gridCol w="2005965"/>
                <a:gridCol w="1938020"/>
              </a:tblGrid>
              <a:tr h="572135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类别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典型事件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能定位的问题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572135"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请求语义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request_hints_observed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class / session / SLO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是否进入 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vLLM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572135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prefix cache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prefix_lookup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hit tokens / first miss depth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72644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生命周期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block_allocated / sealed / touched / evicted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active -&gt; sealed -&gt; shared -&gt; evicted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57277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admission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cache_admission_limited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哪些请求被限制，节省多少 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block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72644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scheduler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request_promoted / latency_promoted / deferred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waiting queue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是否重排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572135"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反馈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rebuilt_from_eviction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错误驱逐后是否重新构建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5475605" y="1311910"/>
            <a:ext cx="6513195" cy="3968115"/>
          </a:xfrm>
          <a:prstGeom prst="rect">
            <a:avLst/>
          </a:prstGeom>
        </p:spPr>
      </p:pic>
      <p:pic>
        <p:nvPicPr>
          <p:cNvPr id="8" name="图形 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0145" y="5565140"/>
            <a:ext cx="338455" cy="3048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05600" y="5628640"/>
            <a:ext cx="3454400" cy="2457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333333"/>
                </a:solidFill>
                <a:latin typeface="微软雅黑" panose="020B0503020204020204" pitchFamily="34" charset="-122"/>
              </a:rPr>
              <a:t>真实定位例子</a:t>
            </a:r>
            <a:endParaRPr lang="zh-CN" altLang="en-US" sz="16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05600" y="5908040"/>
            <a:ext cx="3454400" cy="64579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latency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初期无效时，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JSONL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中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hint_slo_ms=0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暴露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header whitelist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没有传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SLO/session/turn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5661025" y="3746500"/>
            <a:ext cx="4551680" cy="135890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73760" y="3746500"/>
            <a:ext cx="4478655" cy="135890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660390" y="1813560"/>
            <a:ext cx="4551680" cy="155194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73760" y="1810385"/>
            <a:ext cx="4478655" cy="1555115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16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调试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工具组合诊断：先确认 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run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，再解释结果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" name="图形 5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9185" y="2049145"/>
            <a:ext cx="335915" cy="3511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26870" y="2049145"/>
            <a:ext cx="3200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Run state / policy state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62100" y="2438400"/>
            <a:ext cx="32004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当前阶段、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policy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、退出码、错误信息；区分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completed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failed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partial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1" name="图形 10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6135" y="2049145"/>
            <a:ext cx="379730" cy="3511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15100" y="2049145"/>
            <a:ext cx="3200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Heartbeat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515100" y="2438400"/>
            <a:ext cx="32004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运行中的时间戳、阶段和进度，用于判断远程长测是否卡住。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6" name="图形 15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525" y="3883660"/>
            <a:ext cx="409575" cy="35814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562100" y="3964940"/>
            <a:ext cx="3200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Trace summary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562100" y="4279900"/>
            <a:ext cx="32004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检查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duration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rate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hint regime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session/family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分布是否符合预期。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1" name="图形 20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13120" y="3883660"/>
            <a:ext cx="372745" cy="39624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6515100" y="3964940"/>
            <a:ext cx="3200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Acceptance summary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515100" y="4279900"/>
            <a:ext cx="32004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把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throughput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latency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lifecycle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class metrics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汇总成可汇报表格。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03070" y="5565140"/>
            <a:ext cx="7290435" cy="1070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accent5"/>
                </a:solidFill>
              </a:rPr>
              <a:t>长测结果先看完整性，再看 </a:t>
            </a:r>
            <a:r>
              <a:rPr lang="en-US" altLang="zh-CN" b="1">
                <a:solidFill>
                  <a:schemeClr val="accent5"/>
                </a:solidFill>
              </a:rPr>
              <a:t>workload </a:t>
            </a:r>
            <a:r>
              <a:rPr lang="zh-CN" altLang="en-US" b="1">
                <a:solidFill>
                  <a:schemeClr val="accent5"/>
                </a:solidFill>
              </a:rPr>
              <a:t>分布，最后解释性能指标。实现完整工作流和可审计有意义的结果。</a:t>
            </a:r>
            <a:endParaRPr lang="zh-CN" altLang="en-US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17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7050" y="71120"/>
            <a:ext cx="990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2.6 KV Cache Replay / Dashboard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：展示生命周期管理过程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7" name="图形 6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4000" y="1854200"/>
            <a:ext cx="228600" cy="228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229600" y="1841500"/>
            <a:ext cx="2565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block </a:t>
            </a:r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网格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29600" y="2120900"/>
            <a:ext cx="2565400" cy="4708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每个格子表示一个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KV block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，颜色对应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ACTIVE / SEALED / SHARED / COOLING / EVICTED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1" name="图形 10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4000" y="2997200"/>
            <a:ext cx="228600" cy="2286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229600" y="2984500"/>
            <a:ext cx="2565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admission evidence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229600" y="3263900"/>
            <a:ext cx="25654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展示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limited classes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saved blocks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limited reasons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5" name="图形 14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4000" y="4013200"/>
            <a:ext cx="228600" cy="2286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229600" y="4000500"/>
            <a:ext cx="2565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rebuilt evidence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229600" y="4279900"/>
            <a:ext cx="25654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观察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rebuilt-from-eviction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是否集中在热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family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9" name="图形 18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4000" y="5029200"/>
            <a:ext cx="228600" cy="2286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8229600" y="5016500"/>
            <a:ext cx="2565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展示价值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229600" y="5295900"/>
            <a:ext cx="25654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直观看到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seal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touch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evict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rebuild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的时序变化。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9"/>
          <a:stretch>
            <a:fillRect/>
          </a:stretch>
        </p:blipFill>
        <p:spPr>
          <a:xfrm>
            <a:off x="342900" y="488950"/>
            <a:ext cx="7531100" cy="352425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10"/>
          <a:stretch>
            <a:fillRect/>
          </a:stretch>
        </p:blipFill>
        <p:spPr>
          <a:xfrm>
            <a:off x="408940" y="4013200"/>
            <a:ext cx="7187565" cy="29692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实验设计</a:t>
            </a:r>
            <a:endParaRPr lang="zh-CN" altLang="en-US" b="1" dirty="0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2000">
                <a:solidFill>
                  <a:srgbClr val="5D6674"/>
                </a:solidFill>
                <a:latin typeface="微软雅黑" panose="020B0503020204020204" pitchFamily="34" charset="-122"/>
              </a:rPr>
              <a:t>总思路、请求类型、主要实验和 </a:t>
            </a:r>
            <a:r>
              <a:rPr lang="en-US" altLang="zh-CN" sz="2000">
                <a:solidFill>
                  <a:srgbClr val="5D6674"/>
                </a:solidFill>
                <a:latin typeface="微软雅黑" panose="020B0503020204020204" pitchFamily="34" charset="-122"/>
              </a:rPr>
              <a:t>12h </a:t>
            </a:r>
            <a:r>
              <a:rPr lang="zh-CN" altLang="en-US" sz="2000">
                <a:solidFill>
                  <a:srgbClr val="5D6674"/>
                </a:solidFill>
                <a:latin typeface="微软雅黑" panose="020B0503020204020204" pitchFamily="34" charset="-122"/>
              </a:rPr>
              <a:t>矩阵</a:t>
            </a:r>
            <a:endParaRPr lang="zh-CN" altLang="en-US" sz="2000" dirty="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18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19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实验设计总思路：收益场景、机制验证、边界场景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" name="图形 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1855" y="1682750"/>
            <a:ext cx="372745" cy="3365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71600" y="1778000"/>
            <a:ext cx="3835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Duration workload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71600" y="2057400"/>
            <a:ext cx="38354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固定请求池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+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分阶段并发，适合构造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warmup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cold churn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revisit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和高压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SLO goodput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" name="图形 8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2070" y="1726565"/>
            <a:ext cx="344170" cy="29273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603240" y="1778000"/>
            <a:ext cx="3835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Trace workload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603240" y="2057400"/>
            <a:ext cx="38354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按时间线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open-loop replay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，适合模拟企业混合、多轮会话、前后台混部和低复用流量。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1855" y="12960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两类主要</a:t>
            </a:r>
            <a:r>
              <a:rPr lang="en-US" altLang="zh-CN"/>
              <a:t>workload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54660" y="3133090"/>
            <a:ext cx="6657340" cy="2778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构建模拟不同实际场景的实验（以验证各种机制和收益情况）：</a:t>
            </a:r>
            <a:br>
              <a:rPr lang="zh-CN" altLang="en-US" b="1"/>
            </a:br>
            <a:br>
              <a:rPr lang="zh-CN" altLang="en-US" b="1"/>
            </a:br>
            <a:r>
              <a:rPr lang="en-US" altLang="zh-CN" b="1"/>
              <a:t>1.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稳定用户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/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项目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/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文档的日常复用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sym typeface="+mn-ea"/>
            </a:endParaRPr>
          </a:p>
          <a:p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2.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企业多租户普通混合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</a:endParaRPr>
          </a:p>
          <a:p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</a:rPr>
              <a:t>3.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</a:rPr>
              <a:t>低频低复用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</a:endParaRPr>
          </a:p>
          <a:p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</a:rPr>
              <a:t>4.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</a:rPr>
              <a:t>高频高复用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</a:endParaRPr>
          </a:p>
          <a:p>
            <a:r>
              <a:rPr lang="en-US" altLang="zh-CN" b="1"/>
              <a:t>5.</a:t>
            </a:r>
            <a:r>
              <a:rPr lang="zh-CN" altLang="en-US" b="1"/>
              <a:t>工作，实验中的多轮上下文长周期</a:t>
            </a:r>
            <a:r>
              <a:rPr lang="zh-CN" altLang="en-US" b="1"/>
              <a:t>实验</a:t>
            </a:r>
            <a:endParaRPr lang="zh-CN" altLang="en-US" b="1"/>
          </a:p>
          <a:p>
            <a:r>
              <a:rPr lang="en-US" altLang="zh-CN" b="1"/>
              <a:t>6.</a:t>
            </a:r>
            <a:r>
              <a:rPr lang="zh-CN" altLang="en-US" b="1"/>
              <a:t>高并发</a:t>
            </a:r>
            <a:r>
              <a:rPr lang="zh-CN" altLang="en-US" b="1"/>
              <a:t>高压</a:t>
            </a:r>
            <a:endParaRPr lang="zh-CN" altLang="en-US" b="1"/>
          </a:p>
          <a:p>
            <a:r>
              <a:rPr lang="zh-CN" altLang="en-US" b="1"/>
              <a:t>等等</a:t>
            </a:r>
            <a:endParaRPr lang="zh-CN" altLang="en-US" b="1"/>
          </a:p>
        </p:txBody>
      </p:sp>
      <p:sp>
        <p:nvSpPr>
          <p:cNvPr id="24" name="文本框 23"/>
          <p:cNvSpPr txBox="1"/>
          <p:nvPr/>
        </p:nvSpPr>
        <p:spPr>
          <a:xfrm>
            <a:off x="7745730" y="3133090"/>
            <a:ext cx="3258820" cy="2271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accent2"/>
                </a:solidFill>
              </a:rPr>
              <a:t>统一的实验环境和配置：</a:t>
            </a:r>
            <a:endParaRPr lang="zh-CN" altLang="en-US" b="1">
              <a:solidFill>
                <a:schemeClr val="accent2"/>
              </a:solidFill>
            </a:endParaRPr>
          </a:p>
          <a:p>
            <a:endParaRPr lang="zh-CN" altLang="en-US" b="1">
              <a:solidFill>
                <a:schemeClr val="accent2"/>
              </a:solidFill>
            </a:endParaRPr>
          </a:p>
          <a:p>
            <a:r>
              <a:rPr lang="zh-CN" altLang="en-US" b="1">
                <a:solidFill>
                  <a:schemeClr val="accent2"/>
                </a:solidFill>
              </a:rPr>
              <a:t>显卡配置：</a:t>
            </a:r>
            <a:r>
              <a:rPr lang="en-US" altLang="zh-CN" b="1">
                <a:solidFill>
                  <a:schemeClr val="accent2"/>
                </a:solidFill>
              </a:rPr>
              <a:t>RTX3090 </a:t>
            </a:r>
            <a:r>
              <a:rPr lang="zh-CN" altLang="en-US" b="1">
                <a:solidFill>
                  <a:schemeClr val="accent2"/>
                </a:solidFill>
              </a:rPr>
              <a:t>×</a:t>
            </a:r>
            <a:r>
              <a:rPr lang="en-US" altLang="zh-CN" b="1">
                <a:solidFill>
                  <a:schemeClr val="accent2"/>
                </a:solidFill>
              </a:rPr>
              <a:t> 2</a:t>
            </a:r>
            <a:endParaRPr lang="en-US" altLang="zh-CN" b="1">
              <a:solidFill>
                <a:schemeClr val="accent2"/>
              </a:solidFill>
            </a:endParaRPr>
          </a:p>
          <a:p>
            <a:endParaRPr lang="en-US" altLang="zh-CN" b="1">
              <a:solidFill>
                <a:schemeClr val="accent2"/>
              </a:solidFill>
            </a:endParaRPr>
          </a:p>
          <a:p>
            <a:r>
              <a:rPr lang="zh-CN" altLang="en-US" b="1">
                <a:solidFill>
                  <a:schemeClr val="accent2"/>
                </a:solidFill>
              </a:rPr>
              <a:t>使用模型：</a:t>
            </a:r>
            <a:r>
              <a:rPr lang="en-US" altLang="zh-CN" b="1">
                <a:solidFill>
                  <a:schemeClr val="accent2"/>
                </a:solidFill>
              </a:rPr>
              <a:t>Qwen3.5 9B</a:t>
            </a:r>
            <a:endParaRPr lang="en-US" altLang="zh-CN" b="1">
              <a:solidFill>
                <a:schemeClr val="accent2"/>
              </a:solidFill>
            </a:endParaRPr>
          </a:p>
          <a:p>
            <a:endParaRPr lang="en-US" altLang="zh-CN" b="1">
              <a:solidFill>
                <a:schemeClr val="accent2"/>
              </a:solidFill>
            </a:endParaRPr>
          </a:p>
          <a:p>
            <a:r>
              <a:rPr lang="zh-CN" altLang="en-US" b="1">
                <a:solidFill>
                  <a:schemeClr val="accent2"/>
                </a:solidFill>
              </a:rPr>
              <a:t>基础环境与对照：</a:t>
            </a:r>
            <a:r>
              <a:rPr lang="en-US" altLang="zh-CN" b="1">
                <a:solidFill>
                  <a:schemeClr val="accent2"/>
                </a:solidFill>
              </a:rPr>
              <a:t>vllm0.22.1</a:t>
            </a:r>
            <a:endParaRPr lang="en-US" altLang="zh-CN" b="1">
              <a:solidFill>
                <a:schemeClr val="accent2"/>
              </a:solidFill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7543165" y="3009265"/>
            <a:ext cx="3667125" cy="252666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20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请求类型设计：围绕真实服务中的复用结构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34365" y="1248410"/>
          <a:ext cx="10105390" cy="4006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555"/>
                <a:gridCol w="2401570"/>
                <a:gridCol w="3302000"/>
                <a:gridCol w="2501265"/>
              </a:tblGrid>
              <a:tr h="445135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请求类型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模拟场景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请求组成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对 </a:t>
                      </a: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KV cache </a:t>
                      </a: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的影响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durable_hot_family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稳定业务模板、热门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RAG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文档、常用工作流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共享长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system prompt /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文档片段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工具说明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共享前缀价值高，应长期保留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sticky_session_followup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多轮聊天、客服、代码助手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follow-up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后续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turn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携带历史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messages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session id / turn index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递增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后续请求复用历史上下文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cold_rag_unique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一次性冷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RAG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查询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每次拼接不同长文档，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expected reuse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低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输入长、复用低，容易污染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cache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cold_rag_burst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突发冷查询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短时间集中发送不同冷文档请求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制造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cache churn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和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eviction pressure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transient_template_family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短期活动模板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短时间共享模板，随后不再回访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有短期共享，保护强度应有限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decode_heavy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长输出报告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生成任务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prompt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可长可短，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max output tokens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较大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decode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占用时间长，复用价值可能低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foreground classes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短问答、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agent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、代码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文档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follow-up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带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request class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SLO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session hints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用户正在等待，延迟敏感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background classes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background cold lookup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decode-heavy background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低优先级或可延迟任务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可让路给前台请求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图形 5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000" y="5461000"/>
            <a:ext cx="254000" cy="254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349500" y="5791200"/>
            <a:ext cx="1016000" cy="1446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40" b="1">
                <a:solidFill>
                  <a:srgbClr val="333333"/>
                </a:solidFill>
                <a:latin typeface="微软雅黑" panose="020B0503020204020204" pitchFamily="34" charset="-122"/>
              </a:rPr>
              <a:t>messages</a:t>
            </a:r>
            <a:endParaRPr lang="zh-CN" altLang="en-US" sz="94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3048000" y="5588000"/>
            <a:ext cx="1117600" cy="0"/>
          </a:xfrm>
          <a:prstGeom prst="line">
            <a:avLst/>
          </a:prstGeom>
          <a:ln w="1270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形 9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5000" y="5461000"/>
            <a:ext cx="254000" cy="254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127500" y="5791200"/>
            <a:ext cx="1016000" cy="1446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40" b="1">
                <a:solidFill>
                  <a:srgbClr val="333333"/>
                </a:solidFill>
                <a:latin typeface="微软雅黑" panose="020B0503020204020204" pitchFamily="34" charset="-122"/>
              </a:rPr>
              <a:t>scheduled</a:t>
            </a:r>
            <a:endParaRPr lang="zh-CN" altLang="en-US" sz="94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826000" y="5588000"/>
            <a:ext cx="1117600" cy="0"/>
          </a:xfrm>
          <a:prstGeom prst="line">
            <a:avLst/>
          </a:prstGeom>
          <a:ln w="1270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形 13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3000" y="5461000"/>
            <a:ext cx="254000" cy="254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905500" y="5791200"/>
            <a:ext cx="1016000" cy="1446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40" b="1">
                <a:solidFill>
                  <a:srgbClr val="333333"/>
                </a:solidFill>
                <a:latin typeface="微软雅黑" panose="020B0503020204020204" pitchFamily="34" charset="-122"/>
              </a:rPr>
              <a:t>headers</a:t>
            </a:r>
            <a:endParaRPr lang="zh-CN" altLang="en-US" sz="94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6604000" y="5588000"/>
            <a:ext cx="1117600" cy="0"/>
          </a:xfrm>
          <a:prstGeom prst="line">
            <a:avLst/>
          </a:prstGeom>
          <a:ln w="1270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形 17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01000" y="5461000"/>
            <a:ext cx="254000" cy="2540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683500" y="5791200"/>
            <a:ext cx="1016000" cy="1446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40" b="1">
                <a:solidFill>
                  <a:srgbClr val="333333"/>
                </a:solidFill>
                <a:latin typeface="微软雅黑" panose="020B0503020204020204" pitchFamily="34" charset="-122"/>
              </a:rPr>
              <a:t>OpenAI API</a:t>
            </a:r>
            <a:endParaRPr lang="zh-CN" altLang="en-US" sz="94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21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主要实验设计：开发中使用的各类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实验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44500" y="1104265"/>
          <a:ext cx="1044575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967105"/>
                <a:gridCol w="2321560"/>
                <a:gridCol w="2320925"/>
                <a:gridCol w="2321560"/>
              </a:tblGrid>
              <a:tr h="422910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实验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类型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模拟场景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想验证的特性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开发作用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quick_daily_8m / daily_dedicated_reuse_40m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稳定用户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项目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文档的日常复用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普通复用场景下是否稳定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检查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9B trace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headers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summary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链路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saturation_reuse_proof_30m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duration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稳定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hot family + cold churn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复用结构下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SLO goodput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是否放大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9B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早期高压证明和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SLO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校准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working_set_gap_quick_8m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duration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工作集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-&gt;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冷冲击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-&gt;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热回访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LRU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是否误驱逐未来复用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prefix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冻结吞吐参数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prefill_throughput_medium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duration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高压共享前缀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冷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RAG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SLO goodput / rebuilt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最终主吞吐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stage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rebuilt_quick_12m / rebuilt_pressure_30m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duration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evict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后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revisit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rebuilt-from-eviction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是否下降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验证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lifecycle regret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指标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interactive_latency_quick_12m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初始交互式复用流量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scheduler latency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是否有效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暴露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promotion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为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和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header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问题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interactive_latency_queue_quick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有队列压力的交互流量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promotion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是否发生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暴露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header/queue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问题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foreground_latency_background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前台交互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后台任务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foreground-priority latency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最终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latency stage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enterprise_normal_75m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企业多租户普通混合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正常服务收益与稳定性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guard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场景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low_reuse_45m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低频低复用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无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prefix reuse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时少介入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最终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low-reuse guard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sticky_burst_45m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会话粘性强且有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burst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sticky session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是否受益，后台是否受伤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推动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fairness / latency guard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改造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22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12h Final Matrix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使用统一 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KVFabric controller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87400" y="1311275"/>
            <a:ext cx="9115425" cy="58166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</a:rPr>
              <a:t>所有 </a:t>
            </a:r>
            <a:r>
              <a:rPr lang="en-US" altLang="zh-CN" sz="1400" b="1">
                <a:solidFill>
                  <a:srgbClr val="0070C0"/>
                </a:solidFill>
                <a:latin typeface="微软雅黑" panose="020B0503020204020204" pitchFamily="34" charset="-122"/>
              </a:rPr>
              <a:t>stage </a:t>
            </a:r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</a:rPr>
              <a:t>都是 </a:t>
            </a:r>
            <a:r>
              <a:rPr lang="en-US" altLang="zh-CN" sz="1400" b="1">
                <a:solidFill>
                  <a:srgbClr val="0070C0"/>
                </a:solidFill>
                <a:latin typeface="微软雅黑" panose="020B0503020204020204" pitchFamily="34" charset="-122"/>
              </a:rPr>
              <a:t>LRU vs KVFabric</a:t>
            </a:r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</a:rPr>
              <a:t>，相同代码和参数配置；差异来自 </a:t>
            </a:r>
            <a:r>
              <a:rPr lang="en-US" altLang="zh-CN" sz="1400" b="1">
                <a:solidFill>
                  <a:srgbClr val="0070C0"/>
                </a:solidFill>
                <a:latin typeface="微软雅黑" panose="020B0503020204020204" pitchFamily="34" charset="-122"/>
              </a:rPr>
              <a:t>workload </a:t>
            </a:r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</a:rPr>
              <a:t>和实验场景。</a:t>
            </a:r>
            <a:endParaRPr lang="zh-CN" altLang="en-US" sz="14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35000" y="1891665"/>
          <a:ext cx="9860915" cy="4041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075"/>
                <a:gridCol w="1304290"/>
                <a:gridCol w="3448685"/>
                <a:gridCol w="3110865"/>
              </a:tblGrid>
              <a:tr h="808355">
                <a:tc>
                  <a:txBody>
                    <a:bodyPr/>
                    <a:lstStyle/>
                    <a:p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Stage</a:t>
                      </a:r>
                      <a:endParaRPr lang="en-US" altLang="zh-CN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Workload</a:t>
                      </a:r>
                      <a:endParaRPr lang="en-US" altLang="zh-CN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配置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主要目的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80835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prefill_throughput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duration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qwen3_5_9b_prefill_throughput_medium.json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高压共享前缀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冷流量冲击，验证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SLO goodput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80835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interactive_latency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qwen3_5_9b_foreground_latency_background_90m.json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前台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后台混部，验证前台延迟保护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80835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enterprise_normal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qwen3_5_9b_enterprise_normal_75m.json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普通企业混合流量，验证正常场景收益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80835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low_reuse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qwen3_5_9b_low_reuse_45m.json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低复用低频流量，验证边界和少介入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长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周期完整实验结果</a:t>
            </a:r>
            <a:endParaRPr lang="zh-CN" altLang="en-US" b="1" dirty="0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2000">
                <a:solidFill>
                  <a:srgbClr val="5D6674"/>
                </a:solidFill>
                <a:latin typeface="微软雅黑" panose="020B0503020204020204" pitchFamily="34" charset="-122"/>
              </a:rPr>
              <a:t>四个 </a:t>
            </a:r>
            <a:r>
              <a:rPr lang="en-US" altLang="zh-CN" sz="2000">
                <a:solidFill>
                  <a:srgbClr val="5D6674"/>
                </a:solidFill>
                <a:latin typeface="微软雅黑" panose="020B0503020204020204" pitchFamily="34" charset="-122"/>
              </a:rPr>
              <a:t>stage</a:t>
            </a:r>
            <a:endParaRPr lang="zh-CN" altLang="en-US" sz="2000" dirty="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23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87500" y="5384800"/>
            <a:ext cx="8365490" cy="719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0070C0"/>
                </a:solidFill>
              </a:rPr>
              <a:t>可在</a:t>
            </a:r>
            <a:r>
              <a:rPr lang="en-US" altLang="zh-CN" b="1">
                <a:solidFill>
                  <a:srgbClr val="0070C0"/>
                </a:solidFill>
              </a:rPr>
              <a:t>KVFabric/experiments/long_pressure_benchmark/final_12h_results</a:t>
            </a:r>
            <a:r>
              <a:rPr lang="zh-CN" altLang="en-US" b="1">
                <a:solidFill>
                  <a:srgbClr val="0070C0"/>
                </a:solidFill>
              </a:rPr>
              <a:t>下找到结果</a:t>
            </a:r>
            <a:endParaRPr lang="zh-CN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24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2765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Stage 1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Prefill Throughput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：高压共享前缀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+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冷流量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冲击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81380" y="1154430"/>
          <a:ext cx="9251950" cy="1602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8745"/>
                <a:gridCol w="1169670"/>
                <a:gridCol w="1169670"/>
                <a:gridCol w="4253865"/>
              </a:tblGrid>
              <a:tr h="400685">
                <a:tc>
                  <a:txBody>
                    <a:bodyPr/>
                    <a:lstStyle/>
                    <a:p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Segment</a:t>
                      </a:r>
                      <a:endParaRPr lang="en-US" altLang="zh-CN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时长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并发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作用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40068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working_set_warmup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900s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32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建立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durable hot family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和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sticky session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工作集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0068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cold_churn_main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4500s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64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大量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cold RAG / burst / transient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进入，制造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cache churn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0068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durable_revisit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1800s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68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热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family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和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sticky session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回访，验证前缀是否保住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89000" y="3053715"/>
            <a:ext cx="2413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selected SLO goodput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89000" y="3295015"/>
            <a:ext cx="2413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3590.21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889000" y="3676015"/>
            <a:ext cx="2413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+97.80% vs LRU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556000" y="3053715"/>
            <a:ext cx="2413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rebuilt-from-eviction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3556000" y="3295015"/>
            <a:ext cx="2413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1,725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3556000" y="3676015"/>
            <a:ext cx="2413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-85.37% vs LRU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223000" y="3053715"/>
            <a:ext cx="2032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warm-family hit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6223000" y="3295015"/>
            <a:ext cx="203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71.11%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6223000" y="3676015"/>
            <a:ext cx="2032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LRU 41.41%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8509000" y="3053715"/>
            <a:ext cx="2159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saved blocks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8509000" y="3295015"/>
            <a:ext cx="215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68,475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8509000" y="3676015"/>
            <a:ext cx="2159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admission limited 26,115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1114425" y="4050030"/>
          <a:ext cx="8702675" cy="2680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840"/>
                <a:gridCol w="1863090"/>
                <a:gridCol w="2082800"/>
                <a:gridCol w="1972945"/>
              </a:tblGrid>
              <a:tr h="382905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指标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LRU</a:t>
                      </a:r>
                      <a:endParaRPr lang="en-US" altLang="zh-CN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KVFabric</a:t>
                      </a:r>
                      <a:endParaRPr lang="en-US" altLang="zh-CN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变化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3829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SLO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goodput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1815.04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3590.21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+97.80%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prefix hit ratio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21.28%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30.93%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+9.65 pp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eligible hit ratio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37.29%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66.06%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+28.77 pp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warm-family hit ratio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41.41%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71.11%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+29.70 pp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evicted blocks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81,330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54,030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-33.57%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rebuilt-from-eviction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11,790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1,725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-85.37%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6032500" y="1651000"/>
            <a:ext cx="4556125" cy="311150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89000" y="1651000"/>
            <a:ext cx="4534535" cy="311150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25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Stage 1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分析：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LRU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污染 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vs KVFabric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入口控制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06500" y="1884045"/>
            <a:ext cx="1271905" cy="50355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b="1">
                <a:solidFill>
                  <a:srgbClr val="D93030"/>
                </a:solidFill>
                <a:latin typeface="微软雅黑" panose="020B0503020204020204" pitchFamily="34" charset="-122"/>
              </a:rPr>
              <a:t>LRU </a:t>
            </a:r>
            <a:r>
              <a:rPr lang="zh-CN" altLang="en-US" b="1">
                <a:solidFill>
                  <a:srgbClr val="D93030"/>
                </a:solidFill>
                <a:latin typeface="微软雅黑" panose="020B0503020204020204" pitchFamily="34" charset="-122"/>
              </a:rPr>
              <a:t>行为</a:t>
            </a:r>
            <a:endParaRPr lang="zh-CN" altLang="en-US" b="1">
              <a:solidFill>
                <a:srgbClr val="D9303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206500" y="2197100"/>
            <a:ext cx="838200" cy="0"/>
          </a:xfrm>
          <a:prstGeom prst="line">
            <a:avLst/>
          </a:prstGeom>
          <a:ln w="20320">
            <a:solidFill>
              <a:srgbClr val="D93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形 7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2512060"/>
            <a:ext cx="292100" cy="33274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574800" y="2512060"/>
            <a:ext cx="3632200" cy="50609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333333"/>
                </a:solidFill>
                <a:latin typeface="微软雅黑" panose="020B0503020204020204" pitchFamily="34" charset="-122"/>
              </a:rPr>
              <a:t>低复用长 </a:t>
            </a:r>
            <a:r>
              <a:rPr lang="en-US" altLang="zh-CN" sz="1600" b="1">
                <a:solidFill>
                  <a:srgbClr val="333333"/>
                </a:solidFill>
                <a:latin typeface="微软雅黑" panose="020B0503020204020204" pitchFamily="34" charset="-122"/>
              </a:rPr>
              <a:t>prompt </a:t>
            </a:r>
            <a:r>
              <a:rPr lang="zh-CN" altLang="en-US" sz="1600" b="1">
                <a:solidFill>
                  <a:srgbClr val="333333"/>
                </a:solidFill>
                <a:latin typeface="微软雅黑" panose="020B0503020204020204" pitchFamily="34" charset="-122"/>
              </a:rPr>
              <a:t>写入大量 </a:t>
            </a:r>
            <a:r>
              <a:rPr lang="en-US" altLang="zh-CN" sz="1600" b="1">
                <a:solidFill>
                  <a:srgbClr val="333333"/>
                </a:solidFill>
                <a:latin typeface="微软雅黑" panose="020B0503020204020204" pitchFamily="34" charset="-122"/>
              </a:rPr>
              <a:t>full blocks</a:t>
            </a:r>
            <a:endParaRPr lang="zh-CN" altLang="en-US" sz="16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625600" y="2882900"/>
            <a:ext cx="29464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cold RAG / burst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未来复用低，但短期占用大量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prefix cache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2" name="图形 11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500" y="3561080"/>
            <a:ext cx="292100" cy="29972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1625600" y="3561080"/>
            <a:ext cx="2946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热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family revisit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需要重算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1625600" y="3898900"/>
            <a:ext cx="29464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暂时不活跃但后续回访的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hot family prefix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被挤出，形成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rebuilt-from-eviction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350000" y="1885950"/>
            <a:ext cx="1790065" cy="62611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b="1">
                <a:solidFill>
                  <a:srgbClr val="0070E8"/>
                </a:solidFill>
                <a:latin typeface="微软雅黑" panose="020B0503020204020204" pitchFamily="34" charset="-122"/>
              </a:rPr>
              <a:t>KVFabric </a:t>
            </a:r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行为</a:t>
            </a:r>
            <a:endParaRPr lang="zh-CN" altLang="en-US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350000" y="2197100"/>
            <a:ext cx="1219200" cy="0"/>
          </a:xfrm>
          <a:prstGeom prst="line">
            <a:avLst/>
          </a:prstGeom>
          <a:ln w="2032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形 18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2511425"/>
            <a:ext cx="292100" cy="33337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6769100" y="2567305"/>
            <a:ext cx="2946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Admission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限制低价值写入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3"/>
            </p:custDataLst>
          </p:nvPr>
        </p:nvSpPr>
        <p:spPr>
          <a:xfrm>
            <a:off x="6769100" y="2882900"/>
            <a:ext cx="29464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cold_rag_burst / cold_rag_unique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在入口处少写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cache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3" name="图形 22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50000" y="3561080"/>
            <a:ext cx="292100" cy="29972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17"/>
            </p:custDataLst>
          </p:nvPr>
        </p:nvSpPr>
        <p:spPr>
          <a:xfrm>
            <a:off x="6769100" y="3619500"/>
            <a:ext cx="3580765" cy="49911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Eviction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保护有证据的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block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8"/>
            </p:custDataLst>
          </p:nvPr>
        </p:nvSpPr>
        <p:spPr>
          <a:xfrm>
            <a:off x="6769100" y="3898900"/>
            <a:ext cx="29464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family / hit / regret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证据提高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retain value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，减少错误驱逐。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440180" y="5297170"/>
            <a:ext cx="8465185" cy="74041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收益链路：少写冷块 </a:t>
            </a:r>
            <a:r>
              <a:rPr lang="en-US" altLang="zh-CN" b="1">
                <a:solidFill>
                  <a:srgbClr val="0070E8"/>
                </a:solidFill>
                <a:latin typeface="微软雅黑" panose="020B0503020204020204" pitchFamily="34" charset="-122"/>
              </a:rPr>
              <a:t>-&gt; </a:t>
            </a:r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少挤掉热 </a:t>
            </a:r>
            <a:r>
              <a:rPr lang="en-US" altLang="zh-CN" b="1">
                <a:solidFill>
                  <a:srgbClr val="0070E8"/>
                </a:solidFill>
                <a:latin typeface="微软雅黑" panose="020B0503020204020204" pitchFamily="34" charset="-122"/>
              </a:rPr>
              <a:t>family -&gt; rebuilt </a:t>
            </a:r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下降 </a:t>
            </a:r>
            <a:r>
              <a:rPr lang="en-US" altLang="zh-CN" b="1">
                <a:solidFill>
                  <a:srgbClr val="0070E8"/>
                </a:solidFill>
                <a:latin typeface="微软雅黑" panose="020B0503020204020204" pitchFamily="34" charset="-122"/>
              </a:rPr>
              <a:t>-&gt; warm-family hit </a:t>
            </a:r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提升 </a:t>
            </a:r>
            <a:r>
              <a:rPr lang="en-US" altLang="zh-CN" b="1">
                <a:solidFill>
                  <a:srgbClr val="0070E8"/>
                </a:solidFill>
                <a:latin typeface="微软雅黑" panose="020B0503020204020204" pitchFamily="34" charset="-122"/>
              </a:rPr>
              <a:t>-&gt; SLO goodput </a:t>
            </a:r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放大。</a:t>
            </a:r>
            <a:endParaRPr lang="zh-CN" altLang="en-US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26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Stage 2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Interactive Latency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：前后台类型请求混合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实验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89000" y="1277620"/>
          <a:ext cx="93345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8455"/>
                <a:gridCol w="6966045"/>
              </a:tblGrid>
              <a:tr h="355600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设置项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内容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workload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open-loop trace replay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foreground latency + background injection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duration 90m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capacity medium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foreground classes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agent_tool_loop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deep_multi_turn_chat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long_doc_research_followup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project_code_followup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short_chat_qa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tenant_workflow_hot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background classes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background_cold_lookup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decode_heavy_background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KVFabric emphasis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Schedule + SLO protect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117600" y="3357880"/>
          <a:ext cx="8755380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720"/>
                <a:gridCol w="1726565"/>
                <a:gridCol w="1972945"/>
                <a:gridCol w="2343150"/>
              </a:tblGrid>
              <a:tr h="469900"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整体指标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LRU</a:t>
                      </a:r>
                      <a:endParaRPr lang="en-US" alt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KVFabric</a:t>
                      </a:r>
                      <a:endParaRPr lang="en-US" alt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变化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service p50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132.337s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69.757s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-47.29%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service p95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223.615s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203.591s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-8.95%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e2e p50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153.822s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80.727s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-47.52%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e2e p95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273.888s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221.542s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-19.11%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latency promotions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3,442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0 -&gt; 3,442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27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Stage 2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分析：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foreground-priority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的收益与代价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85800" y="1111250"/>
          <a:ext cx="6413501" cy="293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894"/>
                <a:gridCol w="1443038"/>
                <a:gridCol w="1523206"/>
                <a:gridCol w="1122363"/>
              </a:tblGrid>
              <a:tr h="444500"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前台请求类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LRU e2e p95</a:t>
                      </a:r>
                      <a:endParaRPr lang="en-US" altLang="zh-CN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KVFabric e2e p95</a:t>
                      </a:r>
                      <a:endParaRPr lang="en-US" altLang="zh-CN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变化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agent_tool_loop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246.209s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136.808s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-44.43%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deep_multi_turn_chat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242.968s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133.376s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-45.11%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long_doc_research_followup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245.434s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150.830s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-38.55%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project_code_followup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266.814s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178.573s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-33.07%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short_chat_qa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196.477s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91.316s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-53.52%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tenant_workflow_hot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218.928s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89.736s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-59.01%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219835" y="4421505"/>
            <a:ext cx="2159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latency promotions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19835" y="4662805"/>
            <a:ext cx="215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3,442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19835" y="5043805"/>
            <a:ext cx="2159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SLO/session/turn </a:t>
            </a:r>
            <a:r>
              <a:rPr lang="zh-CN" altLang="en-US" sz="920" b="1">
                <a:solidFill>
                  <a:srgbClr val="0A8A5A"/>
                </a:solidFill>
                <a:latin typeface="微软雅黑" panose="020B0503020204020204" pitchFamily="34" charset="-122"/>
              </a:rPr>
              <a:t>生效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19835" y="5501005"/>
            <a:ext cx="2159000" cy="1562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overall e2e p50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19835" y="5742305"/>
            <a:ext cx="2159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80.727s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19835" y="6123305"/>
            <a:ext cx="2159000" cy="14097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47.52% reduction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521575" y="1252220"/>
          <a:ext cx="3519170" cy="1567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170"/>
                <a:gridCol w="783590"/>
                <a:gridCol w="885825"/>
                <a:gridCol w="743585"/>
              </a:tblGrid>
              <a:tr h="535940"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后台类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LRU</a:t>
                      </a:r>
                      <a:endParaRPr lang="en-US" altLang="zh-CN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KVFabric</a:t>
                      </a:r>
                      <a:endParaRPr lang="en-US" altLang="zh-CN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变化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background_cold_lookup</a:t>
                      </a:r>
                      <a:endParaRPr lang="en-US" altLang="zh-CN" sz="10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217.490s</a:t>
                      </a:r>
                      <a:endParaRPr lang="en-US" altLang="zh-CN" sz="10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245.073s</a:t>
                      </a:r>
                      <a:endParaRPr lang="en-US" altLang="zh-CN" sz="10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+12.68%</a:t>
                      </a:r>
                      <a:endParaRPr lang="en-US" altLang="zh-CN" sz="10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decode_heavy_background</a:t>
                      </a:r>
                      <a:endParaRPr lang="en-US" altLang="zh-CN" sz="10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330.395s</a:t>
                      </a:r>
                      <a:endParaRPr lang="en-US" altLang="zh-CN" sz="10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355.577s</a:t>
                      </a:r>
                      <a:endParaRPr lang="en-US" altLang="zh-CN" sz="10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+7.62%</a:t>
                      </a:r>
                      <a:endParaRPr lang="en-US" altLang="zh-CN" sz="10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503285" y="2820035"/>
            <a:ext cx="2298700" cy="333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0070C0"/>
                </a:solidFill>
              </a:rPr>
              <a:t>仅略微上升</a:t>
            </a:r>
            <a:endParaRPr lang="zh-CN" altLang="en-US" b="1">
              <a:solidFill>
                <a:srgbClr val="0070C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149725" y="4044950"/>
            <a:ext cx="6449060" cy="2858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b="1"/>
              <a:t>前台改善原因：</a:t>
            </a:r>
            <a:endParaRPr lang="zh-CN" altLang="en-US" sz="1400" b="1"/>
          </a:p>
          <a:p>
            <a:r>
              <a:rPr lang="en-US" altLang="zh-CN" sz="1400"/>
              <a:t>1.foreground classes </a:t>
            </a:r>
            <a:r>
              <a:rPr lang="zh-CN" altLang="en-US" sz="1400"/>
              <a:t>带 </a:t>
            </a:r>
            <a:r>
              <a:rPr lang="en-US" altLang="zh-CN" sz="1400"/>
              <a:t>request class、session、turn、SLO hints；</a:t>
            </a:r>
            <a:endParaRPr lang="en-US" altLang="zh-CN" sz="1400"/>
          </a:p>
          <a:p>
            <a:r>
              <a:rPr lang="en-US" altLang="zh-CN" sz="1400"/>
              <a:t>2.scheduler </a:t>
            </a:r>
            <a:r>
              <a:rPr lang="zh-CN" altLang="en-US" sz="1400"/>
              <a:t>扫描 </a:t>
            </a:r>
            <a:r>
              <a:rPr lang="en-US" altLang="zh-CN" sz="1400"/>
              <a:t>waiting queue，</a:t>
            </a:r>
            <a:r>
              <a:rPr lang="zh-CN" altLang="en-US" sz="1400"/>
              <a:t>提升 </a:t>
            </a:r>
            <a:r>
              <a:rPr lang="en-US" altLang="zh-CN" sz="1400"/>
              <a:t>aged foreground candidates；</a:t>
            </a:r>
            <a:endParaRPr lang="en-US" altLang="zh-CN" sz="1400"/>
          </a:p>
          <a:p>
            <a:r>
              <a:rPr lang="en-US" altLang="zh-CN" sz="1400"/>
              <a:t>3.latency scoring </a:t>
            </a:r>
            <a:r>
              <a:rPr lang="zh-CN" altLang="en-US" sz="1400"/>
              <a:t>对 </a:t>
            </a:r>
            <a:r>
              <a:rPr lang="en-US" altLang="zh-CN" sz="1400"/>
              <a:t>durable/session/foreground </a:t>
            </a:r>
            <a:r>
              <a:rPr lang="zh-CN" altLang="en-US" sz="1400"/>
              <a:t>加分，对 </a:t>
            </a:r>
            <a:r>
              <a:rPr lang="en-US" altLang="zh-CN" sz="1400"/>
              <a:t>cold/decode/background </a:t>
            </a:r>
            <a:r>
              <a:rPr lang="zh-CN" altLang="en-US" sz="1400"/>
              <a:t>惩罚；</a:t>
            </a:r>
            <a:endParaRPr lang="zh-CN" altLang="en-US" sz="1400"/>
          </a:p>
          <a:p>
            <a:r>
              <a:rPr lang="en-US" altLang="zh-CN" sz="1400"/>
              <a:t>4.request_latency_promoted </a:t>
            </a:r>
            <a:r>
              <a:rPr lang="zh-CN" altLang="en-US" sz="1400"/>
              <a:t>事件达到 3,442 次，说明调度路径实际生效。</a:t>
            </a:r>
            <a:endParaRPr lang="zh-CN" altLang="en-US" sz="1400"/>
          </a:p>
          <a:p>
            <a:endParaRPr lang="zh-CN" altLang="en-US" sz="1400" b="1"/>
          </a:p>
          <a:p>
            <a:r>
              <a:rPr lang="zh-CN" altLang="en-US" sz="1400" b="1"/>
              <a:t>后台代价来源：</a:t>
            </a:r>
            <a:endParaRPr lang="en-US" altLang="zh-CN" sz="1400" b="1"/>
          </a:p>
          <a:p>
            <a:r>
              <a:rPr lang="en-US" altLang="zh-CN" sz="1400"/>
              <a:t>background cold lookup </a:t>
            </a:r>
            <a:r>
              <a:rPr lang="zh-CN" altLang="en-US" sz="1400"/>
              <a:t>和 </a:t>
            </a:r>
            <a:r>
              <a:rPr lang="en-US" altLang="zh-CN" sz="1400"/>
              <a:t>decode-heavy </a:t>
            </a:r>
            <a:r>
              <a:rPr lang="zh-CN" altLang="en-US" sz="1400"/>
              <a:t>被视为低优先级；</a:t>
            </a:r>
            <a:endParaRPr lang="zh-CN" altLang="en-US" sz="1400"/>
          </a:p>
          <a:p>
            <a:r>
              <a:rPr lang="zh-CN" altLang="en-US" sz="1400"/>
              <a:t>它们在资源竞争时让路给交互价值更高的前台请求；</a:t>
            </a:r>
            <a:endParaRPr lang="zh-CN" altLang="en-US" sz="1400"/>
          </a:p>
          <a:p>
            <a:endParaRPr lang="zh-CN" altLang="en-US"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28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1816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Stage 3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Enterprise Normal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：普通企业型混合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流量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89000" y="1262380"/>
          <a:ext cx="93345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8455"/>
                <a:gridCol w="6966045"/>
              </a:tblGrid>
              <a:tr h="355600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设置项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内容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 profile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enterprise_mixed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duration 4500s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target rate 0.75 req/s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partial hints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规模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10 tenants</a:t>
                      </a:r>
                      <a:r>
                        <a:rPr lang="zh-CN" altLang="fr-FR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fr-FR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64 clients</a:t>
                      </a:r>
                      <a:r>
                        <a:rPr lang="zh-CN" altLang="fr-FR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fr-FR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917 families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混合请求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agent tool loop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multi-turn support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hot/cold RAG docs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decode-heavy report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extraction/classification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KVFabric emphasis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Admission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主导，调度保持统一默认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41400" y="3258820"/>
          <a:ext cx="8960485" cy="2914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7185"/>
                <a:gridCol w="1697355"/>
                <a:gridCol w="1980565"/>
                <a:gridCol w="2405380"/>
              </a:tblGrid>
              <a:tr h="400685"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指标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LRU</a:t>
                      </a:r>
                      <a:endParaRPr lang="en-US" altLang="zh-CN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KVFabric</a:t>
                      </a:r>
                      <a:endParaRPr lang="en-US" altLang="zh-CN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变化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goodput tok/s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1383.78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1624.16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+17.37%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e2e goodput tok/s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520.11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1600.36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+207.69%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p50 latency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39.391s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31.065s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-21.14%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5877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p95 latency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139.672s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107.189s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-23.26%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877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e2e p95 latency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316.015s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112.722s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-64.33%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evicted blocks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30,377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22,321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-26.52%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admission limited / saved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 / 0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1,463 / 5,355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0 -&gt; evidence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6350000" y="1841500"/>
            <a:ext cx="3619500" cy="304800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29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Stage 3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分析：普通混合流量中的 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admission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价值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" name="图形 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0290" y="1760220"/>
            <a:ext cx="321310" cy="3225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8600" y="1841500"/>
            <a:ext cx="3835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主要收益来源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98600" y="2120900"/>
            <a:ext cx="3835400" cy="10769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收益来自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admission、cache churn、backlog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和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e2e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排队的综合改善，主要证据在于减少错误驱逐和控制低价值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cache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写入。同时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admission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限制了低复用和未知复用请求，减少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cache pressure，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让有效请求的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e2e latency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明显改善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" name="图形 8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8855" y="3303905"/>
            <a:ext cx="372745" cy="3663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498600" y="3384550"/>
            <a:ext cx="3835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limited classes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98600" y="3708400"/>
            <a:ext cx="38354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rag_qa_cold_docs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decode_heavy_report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extraction_classification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是主要限制对象。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3" name="图形 12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8855" y="4611370"/>
            <a:ext cx="372745" cy="32893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541780" y="4610100"/>
            <a:ext cx="3835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e2e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视角必要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98600" y="4978400"/>
            <a:ext cx="38354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普通混合流量中，收益来自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cache pressure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、排队和请求类型分布共同变化。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731000" y="2222500"/>
            <a:ext cx="2794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goodput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731000" y="2463800"/>
            <a:ext cx="279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+17.37%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731000" y="2844800"/>
            <a:ext cx="2794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1383.76 -&gt; 1624.16 tok/s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731000" y="3429000"/>
            <a:ext cx="2794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e2e p95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731000" y="3670300"/>
            <a:ext cx="279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-64.33%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731000" y="4051300"/>
            <a:ext cx="2794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316.015s -&gt; 112.722s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30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Stage 4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Low Reuse Guard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：低复用无规律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请求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89000" y="1407160"/>
          <a:ext cx="93345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8455"/>
                <a:gridCol w="6966045"/>
              </a:tblGrid>
              <a:tr h="355600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设置项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内容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 profile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low_reuse_low_frequency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duration 2700s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target rate 0.25 req/s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复用结构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session request ratio 0.00%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cold family reuse probability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接近 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容量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large capacity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，降低容量过紧带来的偶然差异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KVFabric emphasis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Admission guard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041400" y="3619500"/>
          <a:ext cx="8953501" cy="2603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2161"/>
                <a:gridCol w="1683165"/>
                <a:gridCol w="1963692"/>
                <a:gridCol w="2384483"/>
              </a:tblGrid>
              <a:tr h="236682"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指标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LRU</a:t>
                      </a:r>
                      <a:endParaRPr lang="en-US" altLang="zh-CN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KVFabric</a:t>
                      </a:r>
                      <a:endParaRPr lang="en-US" altLang="zh-CN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变化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236682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p50 latency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29.178s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3.361s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-88.48%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236682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p95 latency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174.143s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15.796s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-90.93%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36682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e2e p95 latency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325.620s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15.798s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-95.15%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236682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prefix hit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0.00%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0.00%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+0.00 pp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36682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warm-family hit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0.00%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0.00%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+0.00 pp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236682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evicted blocks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4,348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777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-82.13%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36682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rebuilt-from-eviction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0 -&gt; 0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236682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admission limited / saved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 / 0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863 / 2,293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0 -&gt; evidence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5905500" y="1561465"/>
            <a:ext cx="4028440" cy="350647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016000" y="1561465"/>
            <a:ext cx="3939540" cy="350647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31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Stage 4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分析：低复用场景的边界验证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7000" y="2005965"/>
            <a:ext cx="2286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prefix hit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97000" y="2247265"/>
            <a:ext cx="228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97A24"/>
                </a:solidFill>
                <a:latin typeface="微软雅黑" panose="020B0503020204020204" pitchFamily="34" charset="-122"/>
              </a:rPr>
              <a:t>0.00%</a:t>
            </a:r>
            <a:endParaRPr lang="zh-CN" altLang="en-US" sz="2400" b="1">
              <a:solidFill>
                <a:srgbClr val="D97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97000" y="2628265"/>
            <a:ext cx="2286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20" b="1">
                <a:solidFill>
                  <a:srgbClr val="D97A24"/>
                </a:solidFill>
                <a:latin typeface="微软雅黑" panose="020B0503020204020204" pitchFamily="34" charset="-122"/>
              </a:rPr>
              <a:t>无 </a:t>
            </a:r>
            <a:r>
              <a:rPr lang="en-US" altLang="zh-CN" sz="920" b="1">
                <a:solidFill>
                  <a:srgbClr val="D97A24"/>
                </a:solidFill>
                <a:latin typeface="微软雅黑" panose="020B0503020204020204" pitchFamily="34" charset="-122"/>
              </a:rPr>
              <a:t>prefix reuse</a:t>
            </a:r>
            <a:endParaRPr lang="zh-CN" altLang="en-US" sz="920" b="1">
              <a:solidFill>
                <a:srgbClr val="D97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97000" y="2893695"/>
            <a:ext cx="2286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rebuilt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97000" y="3174365"/>
            <a:ext cx="228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97A24"/>
                </a:solidFill>
                <a:latin typeface="微软雅黑" panose="020B0503020204020204" pitchFamily="34" charset="-122"/>
              </a:rPr>
              <a:t>0</a:t>
            </a:r>
            <a:endParaRPr lang="zh-CN" altLang="en-US" sz="2400" b="1">
              <a:solidFill>
                <a:srgbClr val="D97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97000" y="3555365"/>
            <a:ext cx="2286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20" b="1">
                <a:solidFill>
                  <a:srgbClr val="D97A24"/>
                </a:solidFill>
                <a:latin typeface="微软雅黑" panose="020B0503020204020204" pitchFamily="34" charset="-122"/>
              </a:rPr>
              <a:t>无 </a:t>
            </a:r>
            <a:r>
              <a:rPr lang="en-US" altLang="zh-CN" sz="920" b="1">
                <a:solidFill>
                  <a:srgbClr val="D97A24"/>
                </a:solidFill>
                <a:latin typeface="微软雅黑" panose="020B0503020204020204" pitchFamily="34" charset="-122"/>
              </a:rPr>
              <a:t>rebuilt </a:t>
            </a:r>
            <a:r>
              <a:rPr lang="zh-CN" altLang="en-US" sz="920" b="1">
                <a:solidFill>
                  <a:srgbClr val="D97A24"/>
                </a:solidFill>
                <a:latin typeface="微软雅黑" panose="020B0503020204020204" pitchFamily="34" charset="-122"/>
              </a:rPr>
              <a:t>证据</a:t>
            </a:r>
            <a:endParaRPr lang="zh-CN" altLang="en-US" sz="920" b="1">
              <a:solidFill>
                <a:srgbClr val="D97A2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2" name="图形 11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7450" y="3848735"/>
            <a:ext cx="372745" cy="37147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752600" y="3907155"/>
            <a:ext cx="2286635" cy="2768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边界结论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752600" y="4278630"/>
            <a:ext cx="2438400" cy="64579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收益不依赖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prefix reuse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，来自低价值请求少写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cache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、少制造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eviction pressure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350000" y="2005965"/>
            <a:ext cx="3181985" cy="15621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saved blocks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50000" y="2247265"/>
            <a:ext cx="254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2,293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350000" y="2628265"/>
            <a:ext cx="2540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admission limited 863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350000" y="2893695"/>
            <a:ext cx="2540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evicted blocks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350000" y="3174365"/>
            <a:ext cx="254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777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350000" y="3566160"/>
            <a:ext cx="2540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LRU </a:t>
            </a:r>
            <a:r>
              <a:rPr lang="zh-CN" altLang="en-US" sz="920" b="1">
                <a:solidFill>
                  <a:srgbClr val="0A8A5A"/>
                </a:solidFill>
                <a:latin typeface="微软雅黑" panose="020B0503020204020204" pitchFamily="34" charset="-122"/>
              </a:rPr>
              <a:t>为 </a:t>
            </a:r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4,348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3" name="图形 22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0920" y="3883660"/>
            <a:ext cx="336550" cy="33655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573520" y="3948430"/>
            <a:ext cx="2692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原因分析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510655" y="4298950"/>
            <a:ext cx="3214370" cy="7683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低复用情况下，将不会被复用的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cache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写入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prefixcache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并赋予哈希值和跟踪驱逐等行为会造成极大的开销，一定程度上避免这种行为可以产生明显提升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25105" y="2853690"/>
            <a:ext cx="21818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6">
                    <a:lumMod val="75000"/>
                  </a:schemeClr>
                </a:solidFill>
              </a:rPr>
              <a:t>P50,P95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</a:rPr>
              <a:t>（及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</a:rPr>
              <a:t>E2E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</a:rPr>
              <a:t>）</a:t>
            </a:r>
            <a:endParaRPr lang="en-US" altLang="zh-CN" b="1">
              <a:solidFill>
                <a:schemeClr val="accent6">
                  <a:lumMod val="75000"/>
                </a:schemeClr>
              </a:solidFill>
            </a:endParaRPr>
          </a:p>
          <a:p>
            <a:endParaRPr lang="zh-CN" altLang="en-US" b="1"/>
          </a:p>
          <a:p>
            <a:r>
              <a:rPr lang="zh-CN" altLang="en-US" b="1"/>
              <a:t>极大降低</a:t>
            </a:r>
            <a:endParaRPr lang="zh-CN" altLang="en-US" b="1"/>
          </a:p>
        </p:txBody>
      </p:sp>
      <p:sp>
        <p:nvSpPr>
          <p:cNvPr id="22" name="文本框 21"/>
          <p:cNvSpPr txBox="1"/>
          <p:nvPr/>
        </p:nvSpPr>
        <p:spPr>
          <a:xfrm>
            <a:off x="2157730" y="5403850"/>
            <a:ext cx="6576060" cy="1188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0070C0"/>
                </a:solidFill>
              </a:rPr>
              <a:t>在没有复用价值的场景中，</a:t>
            </a:r>
            <a:r>
              <a:rPr lang="en-US" altLang="zh-CN" b="1">
                <a:solidFill>
                  <a:srgbClr val="0070C0"/>
                </a:solidFill>
              </a:rPr>
              <a:t>KVFabric </a:t>
            </a:r>
            <a:r>
              <a:rPr lang="zh-CN" altLang="en-US" b="1">
                <a:solidFill>
                  <a:srgbClr val="0070C0"/>
                </a:solidFill>
              </a:rPr>
              <a:t>通过 </a:t>
            </a:r>
            <a:r>
              <a:rPr lang="en-US" altLang="zh-CN" b="1">
                <a:solidFill>
                  <a:srgbClr val="0070C0"/>
                </a:solidFill>
              </a:rPr>
              <a:t>admission </a:t>
            </a:r>
            <a:r>
              <a:rPr lang="zh-CN" altLang="en-US" b="1">
                <a:solidFill>
                  <a:srgbClr val="0070C0"/>
                </a:solidFill>
              </a:rPr>
              <a:t>和其他综合调度避免低价值 </a:t>
            </a:r>
            <a:r>
              <a:rPr lang="en-US" altLang="zh-CN" b="1">
                <a:solidFill>
                  <a:srgbClr val="0070C0"/>
                </a:solidFill>
              </a:rPr>
              <a:t>cache </a:t>
            </a:r>
            <a:r>
              <a:rPr lang="zh-CN" altLang="en-US" b="1">
                <a:solidFill>
                  <a:srgbClr val="0070C0"/>
                </a:solidFill>
              </a:rPr>
              <a:t>写入，减少 </a:t>
            </a:r>
            <a:r>
              <a:rPr lang="en-US" altLang="zh-CN" b="1">
                <a:solidFill>
                  <a:srgbClr val="0070C0"/>
                </a:solidFill>
              </a:rPr>
              <a:t>evictions，</a:t>
            </a:r>
            <a:r>
              <a:rPr lang="zh-CN" altLang="en-US" b="1">
                <a:solidFill>
                  <a:srgbClr val="0070C0"/>
                </a:solidFill>
              </a:rPr>
              <a:t>并保持可解释的收益来源。</a:t>
            </a:r>
            <a:endParaRPr lang="zh-CN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40677" y="285920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41020" y="21336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总结：</a:t>
            </a:r>
            <a:endParaRPr lang="zh-CN" altLang="en-US" sz="3200" b="1"/>
          </a:p>
        </p:txBody>
      </p:sp>
      <p:sp>
        <p:nvSpPr>
          <p:cNvPr id="7" name="文本框 6"/>
          <p:cNvSpPr txBox="1"/>
          <p:nvPr/>
        </p:nvSpPr>
        <p:spPr>
          <a:xfrm>
            <a:off x="462280" y="1590675"/>
            <a:ext cx="5995035" cy="3676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我们完成了：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对</a:t>
            </a:r>
            <a:r>
              <a:rPr lang="en-US" altLang="zh-CN"/>
              <a:t>KVcache</a:t>
            </a:r>
            <a:r>
              <a:rPr lang="zh-CN" altLang="en-US"/>
              <a:t>的抽象，</a:t>
            </a:r>
            <a:r>
              <a:rPr lang="zh-CN" altLang="en-US" b="1"/>
              <a:t>生命周期管理调度</a:t>
            </a:r>
            <a:r>
              <a:rPr lang="zh-CN" altLang="en-US"/>
              <a:t>的</a:t>
            </a:r>
            <a:r>
              <a:rPr lang="zh-CN" altLang="en-US"/>
              <a:t>提出设计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完整全面的</a:t>
            </a:r>
            <a:r>
              <a:rPr lang="zh-CN" altLang="en-US" b="1"/>
              <a:t>封装</a:t>
            </a:r>
            <a:r>
              <a:rPr lang="zh-CN" altLang="en-US"/>
              <a:t>和跟踪</a:t>
            </a:r>
            <a:r>
              <a:rPr lang="zh-CN" altLang="en-US"/>
              <a:t>记录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完整</a:t>
            </a:r>
            <a:r>
              <a:rPr lang="zh-CN" altLang="en-US" b="1"/>
              <a:t>策略</a:t>
            </a:r>
            <a:r>
              <a:rPr lang="zh-CN" altLang="en-US"/>
              <a:t>的实现与</a:t>
            </a:r>
            <a:r>
              <a:rPr lang="zh-CN" altLang="en-US" b="1"/>
              <a:t>迭代改进</a:t>
            </a:r>
            <a:endParaRPr lang="zh-CN" altLang="en-US" b="1"/>
          </a:p>
          <a:p>
            <a:r>
              <a:rPr lang="en-US" altLang="zh-CN"/>
              <a:t>4.</a:t>
            </a:r>
            <a:r>
              <a:rPr lang="zh-CN" altLang="en-US"/>
              <a:t>完整</a:t>
            </a:r>
            <a:r>
              <a:rPr lang="zh-CN" altLang="en-US" b="1"/>
              <a:t>实验平台</a:t>
            </a:r>
            <a:r>
              <a:rPr lang="zh-CN" altLang="en-US"/>
              <a:t>的搭建，完整的</a:t>
            </a:r>
            <a:r>
              <a:rPr lang="zh-CN" altLang="en-US" b="1"/>
              <a:t>调试工具</a:t>
            </a:r>
            <a:r>
              <a:rPr lang="zh-CN" altLang="en-US"/>
              <a:t>链</a:t>
            </a:r>
            <a:endParaRPr lang="zh-CN" altLang="en-US"/>
          </a:p>
          <a:p>
            <a:r>
              <a:rPr lang="en-US" altLang="zh-CN"/>
              <a:t>5.</a:t>
            </a:r>
            <a:r>
              <a:rPr lang="zh-CN" altLang="en-US"/>
              <a:t>实验和请求的多样化设计，</a:t>
            </a:r>
            <a:r>
              <a:rPr lang="zh-CN" altLang="en-US" b="1"/>
              <a:t>模拟各种场景</a:t>
            </a:r>
            <a:endParaRPr lang="zh-CN" altLang="en-US" b="1"/>
          </a:p>
          <a:p>
            <a:r>
              <a:rPr lang="en-US" altLang="zh-CN"/>
              <a:t>6.</a:t>
            </a:r>
            <a:r>
              <a:rPr lang="zh-CN" altLang="en-US"/>
              <a:t>多元</a:t>
            </a:r>
            <a:r>
              <a:rPr lang="zh-CN" altLang="en-US" b="1"/>
              <a:t>性能指标</a:t>
            </a:r>
            <a:r>
              <a:rPr lang="zh-CN" altLang="en-US"/>
              <a:t>评测</a:t>
            </a:r>
            <a:endParaRPr lang="zh-CN" altLang="en-US"/>
          </a:p>
          <a:p>
            <a:r>
              <a:rPr lang="en-US" altLang="zh-CN"/>
              <a:t>7.</a:t>
            </a:r>
            <a:r>
              <a:rPr lang="zh-CN" altLang="en-US" b="1"/>
              <a:t>实验矩阵</a:t>
            </a:r>
            <a:r>
              <a:rPr lang="zh-CN" altLang="en-US"/>
              <a:t>测试，高表现</a:t>
            </a:r>
            <a:r>
              <a:rPr lang="zh-CN" altLang="en-US" b="1"/>
              <a:t>实验结果验收</a:t>
            </a:r>
            <a:endParaRPr lang="zh-CN" altLang="en-US" b="1"/>
          </a:p>
          <a:p>
            <a:endParaRPr lang="zh-CN" altLang="en-US" b="1"/>
          </a:p>
          <a:p>
            <a:r>
              <a:rPr lang="zh-CN" altLang="en-US" b="1"/>
              <a:t>等等</a:t>
            </a:r>
            <a:r>
              <a:rPr lang="en-US" altLang="zh-CN" b="1"/>
              <a:t>......</a:t>
            </a:r>
            <a:endParaRPr lang="en-US" altLang="zh-CN" b="1"/>
          </a:p>
        </p:txBody>
      </p:sp>
      <p:sp>
        <p:nvSpPr>
          <p:cNvPr id="8" name="文本框 7"/>
          <p:cNvSpPr txBox="1"/>
          <p:nvPr/>
        </p:nvSpPr>
        <p:spPr>
          <a:xfrm>
            <a:off x="7486650" y="1590675"/>
            <a:ext cx="4613275" cy="3429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仍不足的可发展</a:t>
            </a:r>
            <a:r>
              <a:rPr lang="zh-CN" altLang="en-US"/>
              <a:t>空间：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在更大的平台上进行更广泛的</a:t>
            </a:r>
            <a:r>
              <a:rPr lang="zh-CN" altLang="en-US"/>
              <a:t>调试，测试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可自适应的各种参数</a:t>
            </a:r>
            <a:r>
              <a:rPr lang="zh-CN" altLang="en-US"/>
              <a:t>调节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真正接入实验室</a:t>
            </a:r>
            <a:r>
              <a:rPr lang="en-US" altLang="zh-CN"/>
              <a:t>/</a:t>
            </a:r>
            <a:r>
              <a:rPr lang="zh-CN" altLang="en-US"/>
              <a:t>学校</a:t>
            </a:r>
            <a:r>
              <a:rPr lang="en-US" altLang="zh-CN"/>
              <a:t>/</a:t>
            </a:r>
            <a:r>
              <a:rPr lang="zh-CN" altLang="en-US"/>
              <a:t>公司的</a:t>
            </a:r>
            <a:r>
              <a:rPr lang="en-US" altLang="zh-CN"/>
              <a:t>ai</a:t>
            </a:r>
            <a:r>
              <a:rPr lang="zh-CN" altLang="en-US"/>
              <a:t>部署使用中进行</a:t>
            </a:r>
            <a:r>
              <a:rPr lang="zh-CN" altLang="en-US"/>
              <a:t>实践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......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mtClean="0"/>
              <a:t>谢谢</a:t>
            </a:r>
            <a:r>
              <a:rPr lang="en-US" altLang="zh-CN" smtClean="0"/>
              <a:t>	</a:t>
            </a:r>
            <a:r>
              <a:rPr lang="zh-CN" altLang="en-US" smtClean="0"/>
              <a:t>！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欢迎交流和</a:t>
            </a:r>
            <a:r>
              <a:rPr lang="zh-CN" altLang="en-US" dirty="0"/>
              <a:t>讨论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2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3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4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5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6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7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8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9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10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11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12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13.xml><?xml version="1.0" encoding="utf-8"?>
<p:tagLst xmlns:p="http://schemas.openxmlformats.org/presentationml/2006/main">
  <p:tag name="KSO_WM_DIAGRAM_VIRTUALLY_FRAME" val="{&quot;height&quot;:154.2383464566929,&quot;left&quot;:495,&quot;top&quot;:188,&quot;width&quot;:290}"/>
</p:tagLst>
</file>

<file path=ppt/tags/tag14.xml><?xml version="1.0" encoding="utf-8"?>
<p:tagLst xmlns:p="http://schemas.openxmlformats.org/presentationml/2006/main">
  <p:tag name="KSO_WM_DIAGRAM_VIRTUALLY_FRAME" val="{&quot;height&quot;:154.2383464566929,&quot;left&quot;:495,&quot;top&quot;:188,&quot;width&quot;:290}"/>
</p:tagLst>
</file>

<file path=ppt/tags/tag15.xml><?xml version="1.0" encoding="utf-8"?>
<p:tagLst xmlns:p="http://schemas.openxmlformats.org/presentationml/2006/main">
  <p:tag name="KSO_WM_DIAGRAM_VIRTUALLY_FRAME" val="{&quot;height&quot;:154.2383464566929,&quot;left&quot;:495,&quot;top&quot;:188,&quot;width&quot;:290}"/>
</p:tagLst>
</file>

<file path=ppt/tags/tag16.xml><?xml version="1.0" encoding="utf-8"?>
<p:tagLst xmlns:p="http://schemas.openxmlformats.org/presentationml/2006/main">
  <p:tag name="KSO_WM_DIAGRAM_VIRTUALLY_FRAME" val="{&quot;height&quot;:154.2383464566929,&quot;left&quot;:495,&quot;top&quot;:188,&quot;width&quot;:290}"/>
</p:tagLst>
</file>

<file path=ppt/tags/tag17.xml><?xml version="1.0" encoding="utf-8"?>
<p:tagLst xmlns:p="http://schemas.openxmlformats.org/presentationml/2006/main">
  <p:tag name="KSO_WM_DIAGRAM_VIRTUALLY_FRAME" val="{&quot;height&quot;:154.2383464566929,&quot;left&quot;:495,&quot;top&quot;:188,&quot;width&quot;:290}"/>
</p:tagLst>
</file>

<file path=ppt/tags/tag18.xml><?xml version="1.0" encoding="utf-8"?>
<p:tagLst xmlns:p="http://schemas.openxmlformats.org/presentationml/2006/main">
  <p:tag name="KSO_WM_DIAGRAM_VIRTUALLY_FRAME" val="{&quot;height&quot;:154.2383464566929,&quot;left&quot;:495,&quot;top&quot;:188,&quot;width&quot;:290}"/>
</p:tagLst>
</file>

<file path=ppt/tags/tag19.xml><?xml version="1.0" encoding="utf-8"?>
<p:tagLst xmlns:p="http://schemas.openxmlformats.org/presentationml/2006/main">
  <p:tag name="KSO_WM_DIAGRAM_VIRTUALLY_FRAME" val="{&quot;height&quot;:154.2383464566929,&quot;left&quot;:495,&quot;top&quot;:188,&quot;width&quot;:290}"/>
</p:tagLst>
</file>

<file path=ppt/tags/tag20.xml><?xml version="1.0" encoding="utf-8"?>
<p:tagLst xmlns:p="http://schemas.openxmlformats.org/presentationml/2006/main">
  <p:tag name="KSO_WM_DIAGRAM_VIRTUALLY_FRAME" val="{&quot;height&quot;:154.2383464566929,&quot;left&quot;:495,&quot;top&quot;:188,&quot;width&quot;:290}"/>
</p:tagLst>
</file>

<file path=ppt/tags/tag21.xml><?xml version="1.0" encoding="utf-8"?>
<p:tagLst xmlns:p="http://schemas.openxmlformats.org/presentationml/2006/main">
  <p:tag name="KSO_WM_DIAGRAM_VIRTUALLY_FRAME" val="{&quot;height&quot;:154.2383464566929,&quot;left&quot;:495,&quot;top&quot;:188,&quot;width&quot;:290}"/>
</p:tagLst>
</file>

<file path=ppt/tags/tag22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23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24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25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26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27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28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29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30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31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32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33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34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35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36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37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38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39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40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41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42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43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44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45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46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47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48.xml><?xml version="1.0" encoding="utf-8"?>
<p:tagLst xmlns:p="http://schemas.openxmlformats.org/presentationml/2006/main">
  <p:tag name="KSO_WM_DIAGRAM_VIRTUALLY_FRAME" val="{&quot;height&quot;:86.6,&quot;left&quot;:67.55,&quot;top&quot;:220,&quot;width&quot;:776.5}"/>
</p:tagLst>
</file>

<file path=ppt/tags/tag49.xml><?xml version="1.0" encoding="utf-8"?>
<p:tagLst xmlns:p="http://schemas.openxmlformats.org/presentationml/2006/main">
  <p:tag name="KSO_WM_DIAGRAM_VIRTUALLY_FRAME" val="{&quot;height&quot;:86.6,&quot;left&quot;:67.55,&quot;top&quot;:220,&quot;width&quot;:776.5}"/>
</p:tagLst>
</file>

<file path=ppt/tags/tag50.xml><?xml version="1.0" encoding="utf-8"?>
<p:tagLst xmlns:p="http://schemas.openxmlformats.org/presentationml/2006/main">
  <p:tag name="KSO_WM_DIAGRAM_VIRTUALLY_FRAME" val="{&quot;height&quot;:86.6,&quot;left&quot;:67.55,&quot;top&quot;:220,&quot;width&quot;:776.5}"/>
</p:tagLst>
</file>

<file path=ppt/tags/tag51.xml><?xml version="1.0" encoding="utf-8"?>
<p:tagLst xmlns:p="http://schemas.openxmlformats.org/presentationml/2006/main">
  <p:tag name="KSO_WM_DIAGRAM_VIRTUALLY_FRAME" val="{&quot;height&quot;:86.6,&quot;left&quot;:67.55,&quot;top&quot;:220,&quot;width&quot;:776.5}"/>
</p:tagLst>
</file>

<file path=ppt/tags/tag52.xml><?xml version="1.0" encoding="utf-8"?>
<p:tagLst xmlns:p="http://schemas.openxmlformats.org/presentationml/2006/main">
  <p:tag name="KSO_WM_DIAGRAM_VIRTUALLY_FRAME" val="{&quot;height&quot;:86.6,&quot;left&quot;:67.55,&quot;top&quot;:220,&quot;width&quot;:776.5}"/>
</p:tagLst>
</file>

<file path=ppt/tags/tag53.xml><?xml version="1.0" encoding="utf-8"?>
<p:tagLst xmlns:p="http://schemas.openxmlformats.org/presentationml/2006/main">
  <p:tag name="KSO_WM_DIAGRAM_VIRTUALLY_FRAME" val="{&quot;height&quot;:86.6,&quot;left&quot;:67.55,&quot;top&quot;:220,&quot;width&quot;:776.5}"/>
</p:tagLst>
</file>

<file path=ppt/tags/tag54.xml><?xml version="1.0" encoding="utf-8"?>
<p:tagLst xmlns:p="http://schemas.openxmlformats.org/presentationml/2006/main">
  <p:tag name="KSO_WM_DIAGRAM_VIRTUALLY_FRAME" val="{&quot;height&quot;:86.6,&quot;left&quot;:67.55,&quot;top&quot;:220,&quot;width&quot;:776.5}"/>
</p:tagLst>
</file>

<file path=ppt/tags/tag55.xml><?xml version="1.0" encoding="utf-8"?>
<p:tagLst xmlns:p="http://schemas.openxmlformats.org/presentationml/2006/main">
  <p:tag name="KSO_WM_DIAGRAM_VIRTUALLY_FRAME" val="{&quot;height&quot;:86.6,&quot;left&quot;:67.55,&quot;top&quot;:220,&quot;width&quot;:776.5}"/>
</p:tagLst>
</file>

<file path=ppt/tags/tag56.xml><?xml version="1.0" encoding="utf-8"?>
<p:tagLst xmlns:p="http://schemas.openxmlformats.org/presentationml/2006/main">
  <p:tag name="KSO_WM_DIAGRAM_VIRTUALLY_FRAME" val="{&quot;height&quot;:86.6,&quot;left&quot;:67.55,&quot;top&quot;:220,&quot;width&quot;:776.5}"/>
</p:tagLst>
</file>

<file path=ppt/tags/tag57.xml><?xml version="1.0" encoding="utf-8"?>
<p:tagLst xmlns:p="http://schemas.openxmlformats.org/presentationml/2006/main">
  <p:tag name="TABLE_ENDDRAG_ORIGIN_RECT" val="795*315"/>
  <p:tag name="TABLE_ENDDRAG_RECT" val="49*98*795*315"/>
</p:tagLst>
</file>

<file path=ppt/tags/tag58.xml><?xml version="1.0" encoding="utf-8"?>
<p:tagLst xmlns:p="http://schemas.openxmlformats.org/presentationml/2006/main">
  <p:tag name="TABLE_ENDDRAG_ORIGIN_RECT" val="776*318"/>
  <p:tag name="TABLE_ENDDRAG_RECT" val="50*148*776*318"/>
</p:tagLst>
</file>

<file path=ppt/tags/tag59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60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61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62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63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64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65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66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67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68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69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70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71.xml><?xml version="1.0" encoding="utf-8"?>
<p:tagLst xmlns:p="http://schemas.openxmlformats.org/presentationml/2006/main">
  <p:tag name="TABLE_ENDDRAG_ORIGIN_RECT" val="685*211"/>
  <p:tag name="TABLE_ENDDRAG_RECT" val="87*318*685*211"/>
</p:tagLst>
</file>

<file path=ppt/tags/tag72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73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74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75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76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77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78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79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80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81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82.xml><?xml version="1.0" encoding="utf-8"?>
<p:tagLst xmlns:p="http://schemas.openxmlformats.org/presentationml/2006/main">
  <p:tag name="TABLE_ENDDRAG_ORIGIN_RECT" val="277*124"/>
  <p:tag name="TABLE_ENDDRAG_RECT" val="592*98*277*124"/>
</p:tagLst>
</file>

<file path=ppt/tags/tag83.xml><?xml version="1.0" encoding="utf-8"?>
<p:tagLst xmlns:p="http://schemas.openxmlformats.org/presentationml/2006/main">
  <p:tag name="TABLE_ENDDRAG_ORIGIN_RECT" val="705*229"/>
  <p:tag name="TABLE_ENDDRAG_RECT" val="82*256*705*229"/>
</p:tagLst>
</file>

<file path=ppt/theme/theme1.xml><?xml version="1.0" encoding="utf-8"?>
<a:theme xmlns:a="http://schemas.openxmlformats.org/drawingml/2006/main" name="View">
  <a:themeElements>
    <a:clrScheme name="自定义 1">
      <a:dk1>
        <a:srgbClr val="3F3F3F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 bold"/>
        <a:ea typeface="微软雅黑 bold"/>
        <a:cs typeface=""/>
      </a:majorFont>
      <a:minorFont>
        <a:latin typeface="微软雅黑"/>
        <a:ea typeface="微软雅黑"/>
        <a:cs typeface="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13580</Words>
  <Application>WPS 演示</Application>
  <PresentationFormat>宽屏</PresentationFormat>
  <Paragraphs>1527</Paragraphs>
  <Slides>33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Arial</vt:lpstr>
      <vt:lpstr>宋体</vt:lpstr>
      <vt:lpstr>Wingdings</vt:lpstr>
      <vt:lpstr>Wingdings 2</vt:lpstr>
      <vt:lpstr>微软雅黑</vt:lpstr>
      <vt:lpstr>微软雅黑 bold</vt:lpstr>
      <vt:lpstr>黑体</vt:lpstr>
      <vt:lpstr>Arial Unicode MS</vt:lpstr>
      <vt:lpstr>等线</vt:lpstr>
      <vt:lpstr>Calibri</vt:lpstr>
      <vt:lpstr>Kata Bold</vt:lpstr>
      <vt:lpstr>View</vt:lpstr>
      <vt:lpstr>迭代与实验验证 </vt:lpstr>
      <vt:lpstr>目录</vt:lpstr>
      <vt:lpstr> 大规模实验及其迭代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调试工具与可视化工具</vt:lpstr>
      <vt:lpstr>PowerPoint 演示文稿</vt:lpstr>
      <vt:lpstr>PowerPoint 演示文稿</vt:lpstr>
      <vt:lpstr>PowerPoint 演示文稿</vt:lpstr>
      <vt:lpstr>PowerPoint 演示文稿</vt:lpstr>
      <vt:lpstr>实验设计</vt:lpstr>
      <vt:lpstr>PowerPoint 演示文稿</vt:lpstr>
      <vt:lpstr>PowerPoint 演示文稿</vt:lpstr>
      <vt:lpstr>PowerPoint 演示文稿</vt:lpstr>
      <vt:lpstr>PowerPoint 演示文稿</vt:lpstr>
      <vt:lpstr>长周期完整实验结果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	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教务处PPT模板002</dc:title>
  <dc:creator>现代教育技术中心</dc:creator>
  <cp:lastModifiedBy>梦之秋云</cp:lastModifiedBy>
  <cp:revision>164</cp:revision>
  <dcterms:created xsi:type="dcterms:W3CDTF">2019-09-09T14:12:00Z</dcterms:created>
  <dcterms:modified xsi:type="dcterms:W3CDTF">2026-07-01T05:32:48Z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A0C819A5B906446185872AC5E6987638_12</vt:lpwstr>
  </property>
  <property fmtid="{D5CDD505-2E9C-101B-9397-08002B2CF9AE}" pid="3" name="KSOProductBuildVer">
    <vt:lpwstr>2052-12.1.0.26895</vt:lpwstr>
  </property>
</Properties>
</file>