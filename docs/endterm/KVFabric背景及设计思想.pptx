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3" r:id="rId5"/>
    <p:sldId id="275" r:id="rId6"/>
    <p:sldId id="272" r:id="rId7"/>
    <p:sldId id="278" r:id="rId8"/>
    <p:sldId id="285" r:id="rId9"/>
    <p:sldId id="288" r:id="rId10"/>
    <p:sldId id="280" r:id="rId11"/>
    <p:sldId id="282" r:id="rId12"/>
    <p:sldId id="308" r:id="rId13"/>
    <p:sldId id="298" r:id="rId14"/>
    <p:sldId id="311" r:id="rId15"/>
    <p:sldId id="310" r:id="rId16"/>
    <p:sldId id="314" r:id="rId17"/>
    <p:sldId id="292" r:id="rId18"/>
    <p:sldId id="315" r:id="rId19"/>
    <p:sldId id="313" r:id="rId20"/>
    <p:sldId id="312" r:id="rId21"/>
    <p:sldId id="316" r:id="rId22"/>
    <p:sldId id="318" r:id="rId23"/>
    <p:sldId id="317" r:id="rId24"/>
    <p:sldId id="319" r:id="rId25"/>
    <p:sldId id="294" r:id="rId26"/>
    <p:sldId id="296" r:id="rId27"/>
    <p:sldId id="297" r:id="rId28"/>
    <p:sldId id="30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88" autoAdjust="0"/>
    <p:restoredTop sz="94534" autoAdjust="0"/>
  </p:normalViewPr>
  <p:slideViewPr>
    <p:cSldViewPr snapToGrid="0">
      <p:cViewPr>
        <p:scale>
          <a:sx n="100" d="100"/>
          <a:sy n="100" d="100"/>
        </p:scale>
        <p:origin x="2068" y="1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AC749-4FB1-4504-8A01-4799D4DFEF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61872" y="4800600"/>
            <a:ext cx="9418320" cy="5228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 baseline="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8" name="组合 7"/>
          <p:cNvGrpSpPr/>
          <p:nvPr userDrawn="1"/>
        </p:nvGrpSpPr>
        <p:grpSpPr>
          <a:xfrm>
            <a:off x="1344485" y="5505422"/>
            <a:ext cx="1764691" cy="297909"/>
            <a:chOff x="8729725" y="4570716"/>
            <a:chExt cx="2830513" cy="477838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9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1872" y="758952"/>
            <a:ext cx="9418320" cy="11562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目录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61872" y="2042160"/>
            <a:ext cx="9418320" cy="4450080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>
              <a:buFont typeface="Wingdings" panose="05000000000000000000" pitchFamily="2" charset="2"/>
              <a:buChar char="n"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86" y="948906"/>
            <a:ext cx="9746088" cy="742416"/>
          </a:xfrm>
          <a:prstGeom prst="rect">
            <a:avLst/>
          </a:prstGeom>
        </p:spPr>
        <p:txBody>
          <a:bodyPr anchor="b"/>
          <a:lstStyle>
            <a:lvl1pPr>
              <a:defRPr lang="en-US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2386" y="1828800"/>
            <a:ext cx="9746088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>
              <a:lnSpc>
                <a:spcPct val="120000"/>
              </a:lnSpc>
              <a:buFont typeface="微软雅黑" panose="020B0503020204020204" pitchFamily="34" charset="-122"/>
              <a:buChar char="▪"/>
              <a:defRPr sz="3600"/>
            </a:lvl1pPr>
            <a:lvl2pPr marL="541655" indent="-266700">
              <a:lnSpc>
                <a:spcPct val="120000"/>
              </a:lnSpc>
              <a:buFont typeface="微软雅黑" panose="020B0503020204020204" pitchFamily="34" charset="-122"/>
              <a:buChar char="▫"/>
              <a:defRPr sz="3200"/>
            </a:lvl2pPr>
            <a:lvl3pPr marL="805180" indent="-25717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3pPr>
            <a:lvl4pPr marL="1075055" indent="-252730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4pPr>
            <a:lvl5pPr marL="1346200" indent="-24955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503148"/>
            <a:ext cx="207034" cy="1188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822325" y="503149"/>
            <a:ext cx="9745413" cy="40481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86" y="948906"/>
            <a:ext cx="9746088" cy="742416"/>
          </a:xfrm>
          <a:prstGeom prst="rect">
            <a:avLst/>
          </a:prstGeom>
        </p:spPr>
        <p:txBody>
          <a:bodyPr anchor="b"/>
          <a:lstStyle>
            <a:lvl1pPr>
              <a:defRPr lang="en-US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2386" y="1828800"/>
            <a:ext cx="9746088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>
              <a:lnSpc>
                <a:spcPct val="120000"/>
              </a:lnSpc>
              <a:buFont typeface="微软雅黑" panose="020B0503020204020204" pitchFamily="34" charset="-122"/>
              <a:buChar char="▪"/>
              <a:defRPr sz="3600"/>
            </a:lvl1pPr>
            <a:lvl2pPr marL="541655" indent="-266700">
              <a:lnSpc>
                <a:spcPct val="120000"/>
              </a:lnSpc>
              <a:buFont typeface="微软雅黑" panose="020B0503020204020204" pitchFamily="34" charset="-122"/>
              <a:buChar char="▫"/>
              <a:defRPr sz="3200"/>
            </a:lvl2pPr>
            <a:lvl3pPr marL="805180" indent="-25717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3pPr>
            <a:lvl4pPr marL="1075055" indent="-252730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4pPr>
            <a:lvl5pPr marL="1346200" indent="-24955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503148"/>
            <a:ext cx="207034" cy="1188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023292"/>
            <a:ext cx="12192000" cy="834708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171" y="6023295"/>
            <a:ext cx="9982200" cy="83470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602329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latin typeface="微软雅黑" panose="020B0503020204020204" pitchFamily="34" charset="-122"/>
                <a:sym typeface="+mn-ea"/>
              </a:rPr>
              <a:t>KVFabric：面向 LLM 推理服务的KV Cache 生命周期管理</a:t>
            </a:r>
            <a:endParaRPr lang="zh-CN" altLang="en-US" dirty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1146089" y="2004459"/>
            <a:ext cx="7934411" cy="833633"/>
          </a:xfrm>
          <a:prstGeom prst="smileyFace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sz="3100" b="1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69035" y="1623060"/>
            <a:ext cx="4029710" cy="1473200"/>
          </a:xfrm>
        </p:spPr>
        <p:txBody>
          <a:bodyPr>
            <a:normAutofit/>
          </a:bodyPr>
          <a:lstStyle/>
          <a:p>
            <a:r>
              <a:rPr lang="zh-CN" altLang="en-US" smtClean="0"/>
              <a:t>设计背景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69162" y="3246755"/>
            <a:ext cx="9418320" cy="522838"/>
          </a:xfrm>
        </p:spPr>
        <p:txBody>
          <a:bodyPr/>
          <a:lstStyle/>
          <a:p>
            <a:r>
              <a:rPr lang="en-US" altLang="zh-CN" dirty="0"/>
              <a:t>LLM </a:t>
            </a:r>
            <a:r>
              <a:rPr lang="zh-CN" altLang="en-US" dirty="0"/>
              <a:t>推理服务中的 </a:t>
            </a:r>
            <a:r>
              <a:rPr lang="en-US" altLang="zh-CN" dirty="0"/>
              <a:t>KV Cache </a:t>
            </a:r>
            <a:r>
              <a:rPr lang="zh-CN" altLang="en-US" dirty="0"/>
              <a:t>管理挑战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10240"/>
          <a:stretch>
            <a:fillRect/>
          </a:stretch>
        </p:blipFill>
        <p:spPr>
          <a:xfrm>
            <a:off x="341630" y="1158240"/>
            <a:ext cx="10780395" cy="5699760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763905" y="-191135"/>
            <a:ext cx="10528935" cy="1156335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ym typeface="+mn-ea"/>
              </a:rPr>
              <a:t>LLM </a:t>
            </a:r>
            <a:r>
              <a:rPr lang="zh-CN" altLang="en-US" sz="3600" dirty="0">
                <a:sym typeface="+mn-ea"/>
              </a:rPr>
              <a:t>推理的两个阶段：</a:t>
            </a:r>
            <a:r>
              <a:rPr lang="en-US" altLang="zh-CN" sz="3600" dirty="0">
                <a:sym typeface="+mn-ea"/>
              </a:rPr>
              <a:t>Prefill </a:t>
            </a:r>
            <a:r>
              <a:rPr lang="zh-CN" altLang="en-US" sz="3600" dirty="0">
                <a:sym typeface="+mn-ea"/>
              </a:rPr>
              <a:t>与 </a:t>
            </a:r>
            <a:r>
              <a:rPr lang="en-US" altLang="zh-CN" sz="3600" dirty="0">
                <a:sym typeface="+mn-ea"/>
              </a:rPr>
              <a:t>Decode</a:t>
            </a:r>
            <a:endParaRPr lang="zh-CN" altLang="en-US" sz="3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949065" y="5617210"/>
            <a:ext cx="199390" cy="1924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310755" y="5611495"/>
            <a:ext cx="206375" cy="18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0545" y="473075"/>
            <a:ext cx="9530080" cy="756920"/>
          </a:xfrm>
        </p:spPr>
        <p:txBody>
          <a:bodyPr>
            <a:normAutofit/>
          </a:bodyPr>
          <a:lstStyle/>
          <a:p>
            <a:r>
              <a:rPr lang="en-US" altLang="zh-CN" sz="4445" dirty="0"/>
              <a:t>KV Cache </a:t>
            </a:r>
            <a:r>
              <a:rPr lang="zh-CN" altLang="en-US" sz="4445" dirty="0"/>
              <a:t>是什么？为什么它这么重要？</a:t>
            </a:r>
            <a:endParaRPr lang="zh-CN" altLang="en-US" sz="4445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2432" y="1483360"/>
            <a:ext cx="9418320" cy="4450080"/>
          </a:xfrm>
        </p:spPr>
        <p:txBody>
          <a:bodyPr>
            <a:normAutofit fontScale="80000"/>
          </a:bodyPr>
          <a:lstStyle/>
          <a:p>
            <a:r>
              <a:rPr lang="en-US" altLang="zh-CN" dirty="0"/>
              <a:t>KV Cache </a:t>
            </a:r>
            <a:r>
              <a:rPr lang="zh-CN" altLang="en-US" dirty="0"/>
              <a:t>的核心思想：用空间换时间</a:t>
            </a:r>
            <a:endParaRPr lang="en-US" altLang="zh-CN" dirty="0"/>
          </a:p>
          <a:p>
            <a:r>
              <a:rPr lang="zh-CN" altLang="en-US" dirty="0"/>
              <a:t>自回归生成时，每步需要访问所有历史 </a:t>
            </a:r>
            <a:r>
              <a:rPr lang="en-US" altLang="zh-CN" dirty="0"/>
              <a:t>token </a:t>
            </a:r>
            <a:r>
              <a:rPr lang="zh-CN" altLang="en-US" dirty="0"/>
              <a:t>的 </a:t>
            </a:r>
            <a:r>
              <a:rPr lang="en-US" altLang="zh-CN" dirty="0"/>
              <a:t>Key/Value </a:t>
            </a:r>
            <a:r>
              <a:rPr lang="zh-CN" altLang="en-US" dirty="0"/>
              <a:t>状态</a:t>
            </a:r>
            <a:endParaRPr lang="zh-CN" altLang="en-US" dirty="0"/>
          </a:p>
          <a:p>
            <a:r>
              <a:rPr lang="zh-CN" altLang="en-US" dirty="0"/>
              <a:t>如果没有 </a:t>
            </a:r>
            <a:r>
              <a:rPr lang="en-US" altLang="zh-CN" dirty="0"/>
              <a:t>KV Cache：</a:t>
            </a:r>
            <a:r>
              <a:rPr lang="zh-CN" altLang="en-US" dirty="0"/>
              <a:t>每步都要重新投影所有历史 </a:t>
            </a:r>
            <a:r>
              <a:rPr lang="en-US" altLang="zh-CN" dirty="0"/>
              <a:t>token → </a:t>
            </a:r>
            <a:r>
              <a:rPr lang="zh-CN" altLang="en-US" dirty="0"/>
              <a:t>计算量 </a:t>
            </a:r>
            <a:r>
              <a:rPr lang="en-US" altLang="zh-CN" dirty="0"/>
              <a:t>O(n²)</a:t>
            </a:r>
            <a:endParaRPr lang="en-US" altLang="zh-CN" dirty="0"/>
          </a:p>
          <a:p>
            <a:r>
              <a:rPr lang="zh-CN" altLang="en-US" dirty="0"/>
              <a:t>有了 </a:t>
            </a:r>
            <a:r>
              <a:rPr lang="en-US" altLang="zh-CN" dirty="0"/>
              <a:t>KV Cache：</a:t>
            </a:r>
            <a:r>
              <a:rPr lang="zh-CN" altLang="en-US" dirty="0"/>
              <a:t>只投影新 </a:t>
            </a:r>
            <a:r>
              <a:rPr lang="en-US" altLang="zh-CN" dirty="0"/>
              <a:t>token，</a:t>
            </a:r>
            <a:r>
              <a:rPr lang="zh-CN" altLang="en-US" dirty="0"/>
              <a:t>读历史 </a:t>
            </a:r>
            <a:r>
              <a:rPr lang="en-US" altLang="zh-CN" dirty="0"/>
              <a:t>K/V → </a:t>
            </a:r>
            <a:r>
              <a:rPr lang="zh-CN" altLang="en-US" dirty="0"/>
              <a:t>计算量 </a:t>
            </a:r>
            <a:r>
              <a:rPr lang="en-US" altLang="zh-CN" dirty="0"/>
              <a:t>O(n)</a:t>
            </a:r>
            <a:endParaRPr lang="en-US" altLang="zh-CN" dirty="0"/>
          </a:p>
          <a:p>
            <a:r>
              <a:rPr lang="zh-CN" altLang="en-US" dirty="0"/>
              <a:t>代价：显存随上下文长度线性增长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0471"/>
          <a:stretch>
            <a:fillRect/>
          </a:stretch>
        </p:blipFill>
        <p:spPr>
          <a:xfrm>
            <a:off x="243840" y="965200"/>
            <a:ext cx="10881995" cy="5912485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763905" y="-191135"/>
            <a:ext cx="10528935" cy="115633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KV Cache</a:t>
            </a:r>
            <a:r>
              <a:rPr lang="zh-CN" altLang="en-US" sz="3600" dirty="0"/>
              <a:t>的显存规模，为什么管理</a:t>
            </a:r>
            <a:r>
              <a:rPr lang="zh-CN" altLang="en-US" sz="3600" dirty="0"/>
              <a:t>很重要？</a:t>
            </a:r>
            <a:endParaRPr lang="zh-CN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77367" y="1371600"/>
            <a:ext cx="9418320" cy="4450080"/>
          </a:xfrm>
        </p:spPr>
        <p:txBody>
          <a:bodyPr/>
          <a:lstStyle/>
          <a:p>
            <a:r>
              <a:rPr lang="zh-CN" altLang="en-US" sz="2800" b="1" dirty="0"/>
              <a:t>显存预算紧张</a:t>
            </a:r>
            <a:r>
              <a:rPr lang="zh-CN" altLang="en-US" sz="2800" dirty="0"/>
              <a:t>：模型参数 + 激活 + </a:t>
            </a:r>
            <a:r>
              <a:rPr lang="en-US" altLang="zh-CN" sz="2800" dirty="0"/>
              <a:t>KVCache </a:t>
            </a:r>
            <a:r>
              <a:rPr lang="zh-CN" altLang="en-US" sz="2800" dirty="0"/>
              <a:t>共享显存池；保留过多压缩并发空间，驱逐过快引发重算</a:t>
            </a:r>
            <a:endParaRPr lang="zh-CN" altLang="en-US" sz="2800" dirty="0"/>
          </a:p>
          <a:p>
            <a:r>
              <a:rPr lang="zh-CN" altLang="en-US" sz="2800" b="1" dirty="0"/>
              <a:t>分配与碎片化</a:t>
            </a:r>
            <a:r>
              <a:rPr lang="zh-CN" altLang="en-US" sz="2800" dirty="0"/>
              <a:t>：连续分配产生外部碎片；块式/分页缓解碎片但增加映射和元数据开销</a:t>
            </a:r>
            <a:endParaRPr lang="zh-CN" altLang="en-US" sz="2800" dirty="0"/>
          </a:p>
          <a:p>
            <a:r>
              <a:rPr lang="zh-CN" altLang="en-US" sz="2800" b="1" dirty="0"/>
              <a:t>共享与一致性</a:t>
            </a:r>
            <a:r>
              <a:rPr lang="zh-CN" altLang="en-US" sz="2800" dirty="0"/>
              <a:t>：前缀复用降低 </a:t>
            </a:r>
            <a:r>
              <a:rPr lang="en-US" altLang="zh-CN" sz="2800" dirty="0"/>
              <a:t>prefill，</a:t>
            </a:r>
            <a:r>
              <a:rPr lang="zh-CN" altLang="en-US" sz="2800" dirty="0"/>
              <a:t>但需维护引用关系、分叉路径、共享对象一致性</a:t>
            </a:r>
            <a:endParaRPr lang="zh-CN" altLang="en-US" sz="2800" dirty="0"/>
          </a:p>
          <a:p>
            <a:r>
              <a:rPr lang="zh-CN" altLang="en-US" sz="2800" b="1" dirty="0"/>
              <a:t>驱逐决策困难</a:t>
            </a:r>
            <a:r>
              <a:rPr lang="zh-CN" altLang="en-US" sz="2800" dirty="0"/>
              <a:t>：仅按"最近是否被访问"淘汰，容易误删高价值共享块 → 命中下降 + 重算上升</a:t>
            </a:r>
            <a:endParaRPr lang="zh-CN" altLang="en-US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1148080" y="437515"/>
            <a:ext cx="9530080" cy="7569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b="0" kern="1200" spc="-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445" dirty="0"/>
              <a:t>KV Cache </a:t>
            </a:r>
            <a:r>
              <a:rPr lang="zh-CN" altLang="en-US" sz="4445" dirty="0"/>
              <a:t>管理的四类核心挑战</a:t>
            </a:r>
            <a:endParaRPr lang="zh-CN" altLang="en-US" sz="444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Rounded Rectangle 3"/>
          <p:cNvSpPr/>
          <p:nvPr/>
        </p:nvSpPr>
        <p:spPr>
          <a:xfrm>
            <a:off x="675640" y="168656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2000" b="1">
                <a:solidFill>
                  <a:srgbClr val="083258"/>
                </a:solidFill>
                <a:latin typeface="微软雅黑" panose="020B0503020204020204" pitchFamily="34" charset="-122"/>
              </a:rPr>
              <a:t>分配 Allocation</a:t>
            </a:r>
            <a:endParaRPr sz="2000" b="1">
              <a:solidFill>
                <a:srgbClr val="083258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18283C"/>
                </a:solidFill>
                <a:latin typeface="微软雅黑" panose="020B0503020204020204" pitchFamily="34" charset="-122"/>
              </a:rPr>
              <a:t>block 粒度决定共享和回收的基本单位。</a:t>
            </a:r>
            <a:endParaRPr sz="2000" b="0">
              <a:solidFill>
                <a:srgbClr val="1828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ounded Rectangle 4"/>
          <p:cNvSpPr/>
          <p:nvPr/>
        </p:nvSpPr>
        <p:spPr>
          <a:xfrm>
            <a:off x="7625080" y="15951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2000" b="1">
                <a:solidFill>
                  <a:srgbClr val="AA2734"/>
                </a:solidFill>
                <a:latin typeface="微软雅黑" panose="020B0503020204020204" pitchFamily="34" charset="-122"/>
              </a:rPr>
              <a:t>复用 Reuse</a:t>
            </a:r>
            <a:endParaRPr sz="2000" b="1">
              <a:solidFill>
                <a:srgbClr val="AA2734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18283C"/>
                </a:solidFill>
                <a:latin typeface="微软雅黑" panose="020B0503020204020204" pitchFamily="34" charset="-122"/>
              </a:rPr>
              <a:t>共享前缀会改变 block 的引用关系和保留价值。</a:t>
            </a:r>
            <a:endParaRPr sz="2000" b="0">
              <a:solidFill>
                <a:srgbClr val="1828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5"/>
          <p:cNvSpPr/>
          <p:nvPr/>
        </p:nvSpPr>
        <p:spPr>
          <a:xfrm>
            <a:off x="4150360" y="4045585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t"/>
          <a:lstStyle/>
          <a:p>
            <a:pPr algn="l"/>
            <a:r>
              <a:rPr sz="2000" b="1">
                <a:solidFill>
                  <a:srgbClr val="FFC617"/>
                </a:solidFill>
                <a:latin typeface="微软雅黑" panose="020B0503020204020204" pitchFamily="34" charset="-122"/>
              </a:rPr>
              <a:t>驱逐 Eviction</a:t>
            </a:r>
            <a:endParaRPr sz="2000" b="1">
              <a:solidFill>
                <a:srgbClr val="FFC617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200"/>
              </a:spcBef>
            </a:pPr>
            <a:r>
              <a:rPr sz="2000" b="0">
                <a:solidFill>
                  <a:srgbClr val="18283C"/>
                </a:solidFill>
                <a:latin typeface="微软雅黑" panose="020B0503020204020204" pitchFamily="34" charset="-122"/>
              </a:rPr>
              <a:t>释放显存的同时，也可能破坏后续复用机会。</a:t>
            </a:r>
            <a:endParaRPr sz="2000" b="0">
              <a:solidFill>
                <a:srgbClr val="18283C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" name="Connector 6"/>
          <p:cNvCxnSpPr/>
          <p:nvPr/>
        </p:nvCxnSpPr>
        <p:spPr>
          <a:xfrm>
            <a:off x="3647440" y="2216912"/>
            <a:ext cx="3931920" cy="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7"/>
          <p:cNvCxnSpPr/>
          <p:nvPr/>
        </p:nvCxnSpPr>
        <p:spPr>
          <a:xfrm flipH="1">
            <a:off x="6299200" y="2783840"/>
            <a:ext cx="1965960" cy="1261872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8"/>
          <p:cNvCxnSpPr/>
          <p:nvPr/>
        </p:nvCxnSpPr>
        <p:spPr>
          <a:xfrm flipH="1" flipV="1">
            <a:off x="2275840" y="2829560"/>
            <a:ext cx="1874520" cy="1645920"/>
          </a:xfrm>
          <a:prstGeom prst="line">
            <a:avLst/>
          </a:prstGeom>
          <a:ln w="15875">
            <a:solidFill>
              <a:srgbClr val="1E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711200" y="440690"/>
            <a:ext cx="9530080" cy="756920"/>
          </a:xfrm>
        </p:spPr>
        <p:txBody>
          <a:bodyPr>
            <a:normAutofit/>
          </a:bodyPr>
          <a:lstStyle/>
          <a:p>
            <a:r>
              <a:rPr lang="zh-CN" altLang="en-US" sz="4445" dirty="0"/>
              <a:t>分配、复用、驱逐：三者</a:t>
            </a:r>
            <a:r>
              <a:rPr lang="zh-CN" altLang="en-US" sz="4445" dirty="0"/>
              <a:t>的耦合</a:t>
            </a:r>
            <a:r>
              <a:rPr lang="zh-CN" altLang="en-US" sz="4445" dirty="0"/>
              <a:t>关系</a:t>
            </a:r>
            <a:endParaRPr lang="zh-CN" altLang="en-US" sz="444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graphicFrame>
        <p:nvGraphicFramePr>
          <p:cNvPr id="2" name="表格 1"/>
          <p:cNvGraphicFramePr/>
          <p:nvPr/>
        </p:nvGraphicFramePr>
        <p:xfrm>
          <a:off x="565248" y="1535332"/>
          <a:ext cx="10583545" cy="4636770"/>
        </p:xfrm>
        <a:graphic>
          <a:graphicData uri="http://schemas.openxmlformats.org/drawingml/2006/table">
            <a:tbl>
              <a:tblPr/>
              <a:tblGrid>
                <a:gridCol w="1694815"/>
                <a:gridCol w="2988945"/>
                <a:gridCol w="2883535"/>
                <a:gridCol w="3016250"/>
              </a:tblGrid>
              <a:tr h="841375">
                <a:tc>
                  <a:txBody>
                    <a:bodyPr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2000" b="1" i="0" spc="13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路线</a:t>
                      </a:r>
                      <a:endParaRPr lang="zh-CN" altLang="en-US" sz="2000" b="1" i="0" spc="13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2000" b="1" i="0" spc="13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代表工作</a:t>
                      </a:r>
                      <a:endParaRPr lang="zh-CN" altLang="en-US" sz="2000" b="1" i="0" spc="13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2000" b="1" i="0" spc="13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解决了什么</a:t>
                      </a:r>
                      <a:endParaRPr lang="zh-CN" altLang="en-US" sz="2000" b="1" i="0" spc="13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2000" b="1" i="0" spc="13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没解决什么</a:t>
                      </a:r>
                      <a:endParaRPr lang="zh-CN" altLang="en-US" sz="2000" b="1" i="0" spc="13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9350">
                <a:tc>
                  <a:txBody>
                    <a:bodyPr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块式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分页管理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vLLM PagedAttention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降低显存碎片，按需增长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不表达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的长期复用价值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96695">
                <a:tc>
                  <a:txBody>
                    <a:bodyPr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前缀复用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vLLM Prefix Caching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完全相同前缀可复用，减少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prefill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只支持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exact match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；共享后分叉、模板槽位变化无法复用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49350">
                <a:tc>
                  <a:txBody>
                    <a:bodyPr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压缩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驱逐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latinLnBrk="0">
                        <a:lnSpc>
                          <a:spcPct val="120000"/>
                        </a:lnSpc>
                      </a:pP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H2O, KVzip, AsymKV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减少存储和访存量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latinLnBrk="0">
                        <a:lnSpc>
                          <a:spcPct val="120000"/>
                        </a:lnSpc>
                      </a:pP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压缩有精度损失；驱逐不看共享状态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317500" marR="317500" marT="215900" marB="215900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11200" y="513715"/>
            <a:ext cx="9530080" cy="756920"/>
          </a:xfrm>
        </p:spPr>
        <p:txBody>
          <a:bodyPr>
            <a:normAutofit/>
          </a:bodyPr>
          <a:lstStyle/>
          <a:p>
            <a:r>
              <a:rPr lang="zh-CN" altLang="en-US" sz="4445" dirty="0"/>
              <a:t>现有方案为什么不够？</a:t>
            </a:r>
            <a:endParaRPr lang="zh-CN" altLang="en-US" sz="444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512" y="2407920"/>
            <a:ext cx="9418320" cy="445008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如何描述 </a:t>
            </a:r>
            <a:r>
              <a:rPr lang="en-US" altLang="zh-CN" sz="2800" dirty="0"/>
              <a:t>KV block </a:t>
            </a:r>
            <a:r>
              <a:rPr lang="zh-CN" altLang="en-US" sz="2800" dirty="0"/>
              <a:t>从创建到回收的生命周期过程？</a:t>
            </a:r>
            <a:endParaRPr lang="zh-CN" altLang="en-US" sz="2800" dirty="0"/>
          </a:p>
          <a:p>
            <a:r>
              <a:rPr lang="zh-CN" altLang="en-US" sz="2800" dirty="0"/>
              <a:t>如何在现有 </a:t>
            </a:r>
            <a:r>
              <a:rPr lang="en-US" altLang="zh-CN" sz="2800" dirty="0"/>
              <a:t>block/page </a:t>
            </a:r>
            <a:r>
              <a:rPr lang="zh-CN" altLang="en-US" sz="2800" dirty="0"/>
              <a:t>机制上增强共享后分叉的复用能力？</a:t>
            </a:r>
            <a:endParaRPr lang="zh-CN" altLang="en-US" sz="2800" dirty="0"/>
          </a:p>
          <a:p>
            <a:r>
              <a:rPr lang="zh-CN" altLang="en-US" sz="2800" dirty="0"/>
              <a:t>如何设计一个不只看 </a:t>
            </a:r>
            <a:r>
              <a:rPr lang="en-US" altLang="zh-CN" sz="2800" dirty="0"/>
              <a:t>LRU，</a:t>
            </a:r>
            <a:r>
              <a:rPr lang="zh-CN" altLang="en-US" sz="2800" dirty="0"/>
              <a:t>而综合考虑共享度、复用频率、前缀位置和重算代价的驱逐策略？</a:t>
            </a:r>
            <a:endParaRPr lang="zh-CN" altLang="en-US" sz="2800" dirty="0"/>
          </a:p>
          <a:p>
            <a:r>
              <a:rPr lang="zh-CN" altLang="en-US" sz="2800" dirty="0"/>
              <a:t>如何在 </a:t>
            </a:r>
            <a:r>
              <a:rPr lang="en-US" altLang="zh-CN" sz="2800" dirty="0"/>
              <a:t>vLLM </a:t>
            </a:r>
            <a:r>
              <a:rPr lang="zh-CN" altLang="en-US" sz="2800" dirty="0"/>
              <a:t>上做最小侵入的原型验证？</a:t>
            </a:r>
            <a:endParaRPr lang="zh-CN" altLang="en-US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55320" y="564515"/>
            <a:ext cx="9540240" cy="1396365"/>
          </a:xfrm>
        </p:spPr>
        <p:txBody>
          <a:bodyPr>
            <a:normAutofit fontScale="90000"/>
          </a:bodyPr>
          <a:lstStyle/>
          <a:p>
            <a:r>
              <a:rPr lang="zh-CN" altLang="en-US" sz="3110" b="1" dirty="0">
                <a:solidFill>
                  <a:schemeClr val="tx2">
                    <a:lumMod val="50000"/>
                  </a:schemeClr>
                </a:solidFill>
              </a:rPr>
              <a:t>我们要解决的问题</a:t>
            </a:r>
            <a:r>
              <a:rPr lang="zh-CN" altLang="en-US" sz="3110" dirty="0"/>
              <a:t>：在 </a:t>
            </a:r>
            <a:r>
              <a:rPr lang="en-US" altLang="zh-CN" sz="3110" dirty="0"/>
              <a:t>LLM </a:t>
            </a:r>
            <a:r>
              <a:rPr lang="zh-CN" altLang="en-US" sz="3110" dirty="0"/>
              <a:t>推理服务中，能否将 </a:t>
            </a:r>
            <a:r>
              <a:rPr lang="en-US" altLang="zh-CN" sz="3110" dirty="0"/>
              <a:t>KV Cache </a:t>
            </a:r>
            <a:r>
              <a:rPr lang="zh-CN" altLang="en-US" sz="3110" dirty="0"/>
              <a:t>视作具有完整生命周期的对象，统一管理其分配、复用和驱逐，从而减少共享主干的误驱逐、降低重复 </a:t>
            </a:r>
            <a:r>
              <a:rPr lang="en-US" altLang="zh-CN" sz="3110" dirty="0"/>
              <a:t>prefill </a:t>
            </a:r>
            <a:r>
              <a:rPr lang="zh-CN" altLang="en-US" sz="3110" dirty="0"/>
              <a:t>计算、提升缓存利用率？</a:t>
            </a:r>
            <a:endParaRPr lang="zh-CN" altLang="en-US" sz="31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相关工作及</a:t>
            </a:r>
            <a:r>
              <a:rPr lang="zh-CN" altLang="en-US" smtClean="0"/>
              <a:t>空白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336675" y="5013325"/>
            <a:ext cx="6443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别人做了什么？还缺什么？我们为什么是必要的？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路线一：前缀复用系统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10565" y="1141730"/>
          <a:ext cx="9726930" cy="5335905"/>
        </p:xfrm>
        <a:graphic>
          <a:graphicData uri="http://schemas.openxmlformats.org/drawingml/2006/table">
            <a:tbl>
              <a:tblPr/>
              <a:tblGrid>
                <a:gridCol w="2377440"/>
                <a:gridCol w="3326130"/>
                <a:gridCol w="4023360"/>
              </a:tblGrid>
              <a:tr h="55499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 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会议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年份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做了什么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不足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273175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vLLM Prefix Caching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 (SOSP'23 →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持续演进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hash + LRU free queue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，完全相同前缀复用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仅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exact match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，共享后分叉无法利用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驱逐只看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LRU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，不区分共享主干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vs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私有尾部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无生命周期概念，驱逐即忘记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16967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SGLang RadixAttention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(NeurIPS'24)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radix tree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组织前缀，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Leaf-LRU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驱逐叶节点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Leaf-LRU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最坏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O(n)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竞争比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(DeepMind 2025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证明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树结构只用于匹配，不用于价值评估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级生命周期元数据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414145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CacheBlend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(EuroSys'25 Best Paper)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任意位置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复用，选择性重算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~15%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分歧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面向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RAG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场景，需额外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prefill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做分歧检测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不管理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生命周期，不区分长期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短期价值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没有驱逐后悔机制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923925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Marconi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(MLSys'25)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支持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Attention-SSM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混合模型前缀缓存，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SSM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状态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checkpoint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聚焦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SSM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架构适配，驱逐仍是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LRU 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无共享结构建模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checkpoint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内存开销大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路线二：智能驱逐策略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53440" y="1301115"/>
          <a:ext cx="9799320" cy="5205095"/>
        </p:xfrm>
        <a:graphic>
          <a:graphicData uri="http://schemas.openxmlformats.org/drawingml/2006/table">
            <a:tbl>
              <a:tblPr/>
              <a:tblGrid>
                <a:gridCol w="2475865"/>
                <a:gridCol w="2994025"/>
                <a:gridCol w="4329430"/>
              </a:tblGrid>
              <a:tr h="546735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 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会议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年份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做了什么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不足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25222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LPC — Learned Prefix Caching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MLP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分类器预测每个对话的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延续概率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，按预测值驱逐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需要训练数据，换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workload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需重训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黑盒决策，无法解释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为什么驱逐这个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 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只预测对话延续，不建模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间共享结构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25349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HotPrefix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(SIGMOD'25)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动态追踪前缀树节点热度，冷热分级，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GPU↔CPU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迁移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热度只是单维信号（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hit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次数），不看分叉结构、前缀位置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关注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placement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而非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本身的价值建模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无驱逐反馈修正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89916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SmartCache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语义相似度匹配跨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共享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注意力感知驱逐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依赖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embedding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计算，在线开销大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session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共享有隐私风险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复杂语义森林结构，工程落地难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25349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RLT+LBGR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(Google DeepMind, 2025)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随机化叶节点驱逐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(RLT) +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学习驱动路由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(LBGR)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，从数学上证明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O(log n)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竞争比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随机化虽好但无法利用共享结构先验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仍聚焦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驱逐策略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单点，不管理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完整生命周期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学习路由需要持续在线训练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路线三：层级自适应压缩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74370" y="1046480"/>
          <a:ext cx="10035540" cy="5536565"/>
        </p:xfrm>
        <a:graphic>
          <a:graphicData uri="http://schemas.openxmlformats.org/drawingml/2006/table">
            <a:tbl>
              <a:tblPr/>
              <a:tblGrid>
                <a:gridCol w="2357120"/>
                <a:gridCol w="3270250"/>
                <a:gridCol w="4408170"/>
              </a:tblGrid>
              <a:tr h="622935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 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会议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年份</a:t>
                      </a:r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做了什么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不足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43002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CAKE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(ICLR'25)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逐层自适应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预算分配，注意力动力学指导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切蛋糕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被丢弃不可恢复，精度永久损失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3.2%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保留率在极端任务可能失效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面向长上下文压缩，不改共享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驱逐策略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430655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DynamicKV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(ACL'25)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按任务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层级动态分配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保留比例，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1.7%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即可保持精度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删除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而非驱逐，无法被后续请求复用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不区分共享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vs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私有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，统一压缩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级生命周期概念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02616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Ada-KV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(NeurIPS'25)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逐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head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自适应预算分配，可插拔到现有驱逐方法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插入到现有方法的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上层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，底层仍是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LRU 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精度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tradeoff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不可消除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不解决共享结构管理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026795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KVzip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(NeurIPS'25 Oral)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query-agnostic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压缩，通过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context reconstruction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评估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重要性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=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丢失，多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query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场景可能有累积误差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不区分共享前缀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vs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私有尾部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压缩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解压有额外计算开销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78840" y="22923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相关工作</a:t>
            </a:r>
            <a:r>
              <a:rPr lang="en-US" altLang="zh-CN" sz="3200" b="1">
                <a:solidFill>
                  <a:srgbClr val="003B66"/>
                </a:solidFill>
                <a:latin typeface="微软雅黑" panose="020B0503020204020204" pitchFamily="34" charset="-122"/>
              </a:rPr>
              <a:t> VS KVF</a:t>
            </a:r>
            <a:r>
              <a:rPr lang="en-US" altLang="zh-CN" sz="3200" b="1">
                <a:solidFill>
                  <a:srgbClr val="003B66"/>
                </a:solidFill>
                <a:latin typeface="微软雅黑" panose="020B0503020204020204" pitchFamily="34" charset="-122"/>
              </a:rPr>
              <a:t>abric</a:t>
            </a:r>
            <a:endParaRPr lang="en-US" altLang="zh-CN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22325" y="1234440"/>
          <a:ext cx="9190990" cy="4937760"/>
        </p:xfrm>
        <a:graphic>
          <a:graphicData uri="http://schemas.openxmlformats.org/drawingml/2006/table">
            <a:tbl>
              <a:tblPr/>
              <a:tblGrid>
                <a:gridCol w="1783715"/>
                <a:gridCol w="1783715"/>
                <a:gridCol w="1783715"/>
                <a:gridCol w="1783715"/>
                <a:gridCol w="2056130"/>
              </a:tblGrid>
              <a:tr h="61722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能力维度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前缀复用系统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智能驱逐策略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层级压缩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KVFabric</a:t>
                      </a:r>
                      <a:endParaRPr lang="en-US" altLang="zh-CN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前缀匹配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强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继承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vLLM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驱逐策略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纯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LRU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强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KeepScore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多维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空间节省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不涉及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强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共享主干保护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共享结构建模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Prefix Family Index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生命周期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 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完整状态机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事后验证修正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EvictedShadow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1722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可解释性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⚠ 部分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❌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黑盒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⚠ 部分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✅ JSONL + Metrics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08787" y="748665"/>
            <a:ext cx="9418320" cy="522838"/>
          </a:xfrm>
        </p:spPr>
        <p:txBody>
          <a:bodyPr>
            <a:normAutofit/>
          </a:bodyPr>
          <a:lstStyle/>
          <a:p>
            <a:pPr marL="177800" indent="0">
              <a:buNone/>
            </a:pPr>
            <a:r>
              <a:rPr lang="en-US" altLang="zh-CN" sz="1800" dirty="0"/>
              <a:t>KVFabric </a:t>
            </a:r>
            <a:r>
              <a:rPr lang="zh-CN" altLang="en-US" sz="1800" dirty="0"/>
              <a:t>填补的空白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69035" y="1623060"/>
            <a:ext cx="8397875" cy="1523365"/>
          </a:xfrm>
        </p:spPr>
        <p:txBody>
          <a:bodyPr>
            <a:normAutofit/>
          </a:bodyPr>
          <a:lstStyle/>
          <a:p>
            <a:r>
              <a:rPr b="1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全生命周期管理设计</a:t>
            </a:r>
            <a:endParaRPr lang="zh-CN" altLang="en-US" b="1" smtClean="0">
              <a:solidFill>
                <a:schemeClr val="tx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69162" y="3246755"/>
            <a:ext cx="9418320" cy="522838"/>
          </a:xfrm>
        </p:spPr>
        <p:txBody>
          <a:bodyPr/>
          <a:lstStyle/>
          <a:p>
            <a:r>
              <a:rPr lang="zh-CN" altLang="en-US" dirty="0"/>
              <a:t>从"被动缓存页"到"系统对象"的范式转变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为什么要</a:t>
            </a:r>
            <a:r>
              <a:rPr lang="zh-CN" altLang="en-US" smtClean="0"/>
              <a:t>做优化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336675" y="5013325"/>
            <a:ext cx="6443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我们要解决</a:t>
            </a:r>
            <a:r>
              <a:rPr lang="zh-CN" altLang="en-US"/>
              <a:t>什么？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92840" y="6092190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319405"/>
            <a:ext cx="6308090" cy="6032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US" altLang="zh-CN" sz="3200" b="1">
                <a:solidFill>
                  <a:srgbClr val="003B66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驱逐策略不</a:t>
            </a:r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够精准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6232" y="922655"/>
            <a:ext cx="9418320" cy="522838"/>
          </a:xfrm>
        </p:spPr>
        <p:txBody>
          <a:bodyPr>
            <a:normAutofit/>
          </a:bodyPr>
          <a:lstStyle/>
          <a:p>
            <a:pPr marL="177800" indent="0">
              <a:buNone/>
            </a:pPr>
            <a:r>
              <a:rPr lang="en-US" altLang="zh-CN" sz="1800" dirty="0"/>
              <a:t>LRU </a:t>
            </a:r>
            <a:r>
              <a:rPr lang="zh-CN" altLang="en-US" sz="1800" dirty="0"/>
              <a:t>只看"时间"，不看"价值"</a:t>
            </a:r>
            <a:endParaRPr lang="zh-CN" altLang="en-US" sz="1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-505" t="9330" r="505" b="50000"/>
          <a:stretch>
            <a:fillRect/>
          </a:stretch>
        </p:blipFill>
        <p:spPr>
          <a:xfrm>
            <a:off x="147955" y="1080135"/>
            <a:ext cx="8923655" cy="47186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85" y="1514475"/>
            <a:ext cx="3085465" cy="38214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170" y="1530350"/>
            <a:ext cx="3167380" cy="38055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10" y="2458720"/>
            <a:ext cx="497840" cy="410845"/>
          </a:xfrm>
          <a:prstGeom prst="rect">
            <a:avLst/>
          </a:prstGeom>
        </p:spPr>
      </p:pic>
      <p:sp>
        <p:nvSpPr>
          <p:cNvPr id="9" name="TextBox 5"/>
          <p:cNvSpPr txBox="1"/>
          <p:nvPr/>
        </p:nvSpPr>
        <p:spPr>
          <a:xfrm>
            <a:off x="768985" y="1537335"/>
            <a:ext cx="4215765" cy="12280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 Block A  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/>
        </p:nvSpPr>
        <p:spPr>
          <a:xfrm>
            <a:off x="365125" y="1982470"/>
            <a:ext cx="4304665" cy="3647440"/>
          </a:xfrm>
          <a:prstGeom prst="rect">
            <a:avLst/>
          </a:prstGeom>
        </p:spPr>
        <p:txBody>
          <a:bodyPr anchor="t">
            <a:normAutofit lnSpcReduction="10000"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en-US" altLang="zh-CN" sz="2400" dirty="0"/>
              <a:t>  system prompt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</a:t>
            </a:r>
            <a:r>
              <a:rPr lang="zh-CN" altLang="en-US" sz="2400" dirty="0"/>
              <a:t>"你是专业翻译"</a:t>
            </a:r>
            <a:r>
              <a:rPr lang="zh-CN" altLang="en-US" sz="2400" dirty="0"/>
              <a:t>  </a:t>
            </a:r>
            <a:endParaRPr lang="zh-CN" altLang="en-US" sz="2400" dirty="0"/>
          </a:p>
          <a:p>
            <a:pPr marL="177800" indent="0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 </a:t>
            </a:r>
            <a:r>
              <a:rPr lang="zh-CN" altLang="en-US" sz="2400" dirty="0"/>
              <a:t>被 8 个请求共享</a:t>
            </a:r>
            <a:r>
              <a:rPr lang="en-US" altLang="zh-CN" sz="2400" dirty="0"/>
              <a:t>  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hit_count = 15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share_degree = 8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</a:t>
            </a:r>
            <a:r>
              <a:rPr lang="zh-CN" altLang="en-US" sz="2400" dirty="0"/>
              <a:t>前缀深度 = 1</a:t>
            </a:r>
            <a:endParaRPr lang="zh-CN" altLang="en-US" sz="2400" dirty="0"/>
          </a:p>
          <a:p>
            <a:pPr marL="177800" indent="0">
              <a:buNone/>
            </a:pPr>
            <a:r>
              <a:rPr lang="en-US" altLang="zh-CN" sz="2400" dirty="0"/>
              <a:t>  </a:t>
            </a:r>
            <a:r>
              <a:rPr lang="zh-CN" altLang="en-US" sz="2400" dirty="0">
                <a:solidFill>
                  <a:srgbClr val="FF0000"/>
                </a:solidFill>
              </a:rPr>
              <a:t>最近 5 秒没被碰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TextBox 5"/>
          <p:cNvSpPr txBox="1"/>
          <p:nvPr/>
        </p:nvSpPr>
        <p:spPr>
          <a:xfrm>
            <a:off x="5396230" y="1537335"/>
            <a:ext cx="4215765" cy="12280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Block B  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占位符 9"/>
          <p:cNvSpPr>
            <a:spLocks noGrp="1"/>
          </p:cNvSpPr>
          <p:nvPr/>
        </p:nvSpPr>
        <p:spPr>
          <a:xfrm>
            <a:off x="5184775" y="2057400"/>
            <a:ext cx="3279775" cy="3465830"/>
          </a:xfrm>
          <a:prstGeom prst="rect">
            <a:avLst/>
          </a:prstGeom>
        </p:spPr>
        <p:txBody>
          <a:bodyPr anchor="t">
            <a:normAutofit lnSpcReduction="10000"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zh-CN" altLang="en-US" sz="2400" dirty="0"/>
              <a:t>长尾请求的后半段文本</a:t>
            </a:r>
            <a:endParaRPr lang="zh-CN" altLang="en-US" sz="2400" dirty="0"/>
          </a:p>
          <a:p>
            <a:pPr marL="177800" indent="0">
              <a:buNone/>
            </a:pPr>
            <a:r>
              <a:rPr lang="zh-CN" altLang="en-US" sz="2400" dirty="0"/>
              <a:t>仅 1 个请求</a:t>
            </a:r>
            <a:endParaRPr lang="zh-CN" altLang="en-US" sz="2400" dirty="0"/>
          </a:p>
          <a:p>
            <a:pPr marL="177800" indent="0">
              <a:buNone/>
            </a:pPr>
            <a:r>
              <a:rPr lang="en-US" altLang="zh-CN" sz="2400" dirty="0"/>
              <a:t>hit_count = 0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share_degree=1</a:t>
            </a:r>
            <a:endParaRPr lang="en-US" altLang="zh-CN" sz="2400" dirty="0"/>
          </a:p>
          <a:p>
            <a:pPr marL="177800" indent="0">
              <a:buNone/>
            </a:pPr>
            <a:r>
              <a:rPr lang="zh-CN" altLang="en-US" sz="2400" dirty="0"/>
              <a:t>前缀深度 = 50</a:t>
            </a:r>
            <a:endParaRPr lang="zh-CN" altLang="en-US" sz="2400" dirty="0"/>
          </a:p>
          <a:p>
            <a:pPr marL="177800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刚刚被访问过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25" y="2765425"/>
            <a:ext cx="508000" cy="1081405"/>
          </a:xfrm>
          <a:prstGeom prst="rect">
            <a:avLst/>
          </a:prstGeom>
        </p:spPr>
      </p:pic>
      <p:sp>
        <p:nvSpPr>
          <p:cNvPr id="14" name="文本占位符 2"/>
          <p:cNvSpPr>
            <a:spLocks noGrp="1"/>
          </p:cNvSpPr>
          <p:nvPr/>
        </p:nvSpPr>
        <p:spPr>
          <a:xfrm>
            <a:off x="365125" y="5782310"/>
            <a:ext cx="10825480" cy="894715"/>
          </a:xfrm>
          <a:prstGeom prst="rect">
            <a:avLst/>
          </a:prstGeom>
        </p:spPr>
        <p:txBody>
          <a:bodyPr anchor="t">
            <a:normAutofit fontScale="90000" lnSpcReduction="20000"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20" b="1" dirty="0"/>
              <a:t>LRU </a:t>
            </a:r>
            <a:r>
              <a:rPr lang="zh-CN" altLang="en-US" sz="2220" b="1" dirty="0"/>
              <a:t>的选择</a:t>
            </a:r>
            <a:r>
              <a:rPr lang="zh-CN" altLang="en-US" sz="2220" dirty="0"/>
              <a:t>：驱逐 </a:t>
            </a:r>
            <a:r>
              <a:rPr lang="en-US" altLang="zh-CN" sz="2220" dirty="0"/>
              <a:t>Block A（</a:t>
            </a:r>
            <a:r>
              <a:rPr lang="zh-CN" altLang="en-US" sz="2220" dirty="0"/>
              <a:t>因为更久没被碰）</a:t>
            </a:r>
            <a:endParaRPr lang="zh-CN" altLang="en-US" sz="2220" dirty="0"/>
          </a:p>
          <a:p>
            <a:r>
              <a:rPr lang="zh-CN" altLang="en-US" sz="2220" b="1" dirty="0"/>
              <a:t>正确的选择</a:t>
            </a:r>
            <a:r>
              <a:rPr lang="zh-CN" altLang="en-US" sz="2220" dirty="0"/>
              <a:t>：驱逐 </a:t>
            </a:r>
            <a:r>
              <a:rPr lang="en-US" altLang="zh-CN" sz="2220" dirty="0"/>
              <a:t>Block B（A </a:t>
            </a:r>
            <a:r>
              <a:rPr lang="zh-CN" altLang="en-US" sz="2220" dirty="0"/>
              <a:t>是共享主干，驱逐后 8 个后续请求都要重算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11560" y="6172200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3740" y="231775"/>
            <a:ext cx="6290310" cy="64579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共享后分叉是真实服务的常态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占位符 2"/>
          <p:cNvSpPr>
            <a:spLocks noGrp="1"/>
          </p:cNvSpPr>
          <p:nvPr/>
        </p:nvSpPr>
        <p:spPr>
          <a:xfrm>
            <a:off x="365125" y="5782310"/>
            <a:ext cx="10148570" cy="8947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/>
              <a:t>现有 </a:t>
            </a:r>
            <a:r>
              <a:rPr lang="en-US" altLang="zh-CN" sz="2000" b="1" dirty="0"/>
              <a:t>prefix caching </a:t>
            </a:r>
            <a:r>
              <a:rPr lang="zh-CN" altLang="en-US" sz="2000" b="1" dirty="0"/>
              <a:t>的问题</a:t>
            </a:r>
            <a:r>
              <a:rPr lang="zh-CN" altLang="en-US" sz="2000" dirty="0"/>
              <a:t>：只支持 </a:t>
            </a:r>
            <a:r>
              <a:rPr lang="en-US" altLang="zh-CN" sz="2000" dirty="0"/>
              <a:t>exact prefix match，</a:t>
            </a:r>
            <a:r>
              <a:rPr lang="zh-CN" altLang="en-US" sz="2000" dirty="0"/>
              <a:t>模板中间只要有一个槽位不同，后续可共享内容全部失效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7244" r="21077"/>
          <a:stretch>
            <a:fillRect/>
          </a:stretch>
        </p:blipFill>
        <p:spPr>
          <a:xfrm>
            <a:off x="227965" y="877570"/>
            <a:ext cx="9261475" cy="5102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115" y="588010"/>
            <a:ext cx="2387600" cy="51327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缺乏统一的生命周期视角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占位符 2"/>
          <p:cNvSpPr>
            <a:spLocks noGrp="1"/>
          </p:cNvSpPr>
          <p:nvPr/>
        </p:nvSpPr>
        <p:spPr>
          <a:xfrm>
            <a:off x="476885" y="6021705"/>
            <a:ext cx="10483850" cy="8947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我们</a:t>
            </a:r>
            <a:r>
              <a:rPr lang="zh-CN" altLang="en-US" sz="2000" dirty="0"/>
              <a:t>要做的，是把每个 </a:t>
            </a:r>
            <a:r>
              <a:rPr lang="en-US" altLang="zh-CN" sz="2000" dirty="0"/>
              <a:t>KV block </a:t>
            </a:r>
            <a:r>
              <a:rPr lang="zh-CN" altLang="en-US" sz="2000" dirty="0"/>
              <a:t>变成一个可以被理解、被追踪、被合理决策的对象。</a:t>
            </a:r>
            <a:endParaRPr lang="zh-CN" altLang="en-US" sz="2000" dirty="0"/>
          </a:p>
        </p:txBody>
      </p:sp>
      <p:sp>
        <p:nvSpPr>
          <p:cNvPr id="16" name="任意多边形 15"/>
          <p:cNvSpPr/>
          <p:nvPr>
            <p:custDataLst>
              <p:tags r:id="rId1"/>
            </p:custDataLst>
          </p:nvPr>
        </p:nvSpPr>
        <p:spPr>
          <a:xfrm>
            <a:off x="825500" y="1123950"/>
            <a:ext cx="10285730" cy="157543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558165" y="1256665"/>
            <a:ext cx="10825480" cy="1442720"/>
          </a:xfrm>
          <a:prstGeom prst="rect">
            <a:avLst/>
          </a:prstGeom>
        </p:spPr>
        <p:txBody>
          <a:bodyPr anchor="t">
            <a:no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en-US" altLang="zh-CN" sz="2300" b="1" dirty="0"/>
              <a:t> </a:t>
            </a:r>
            <a:r>
              <a:rPr lang="zh-CN" altLang="en-US" sz="2300" b="1" dirty="0"/>
              <a:t>现有 </a:t>
            </a:r>
            <a:r>
              <a:rPr lang="en-US" altLang="zh-CN" sz="2300" b="1" dirty="0"/>
              <a:t>vLLM </a:t>
            </a:r>
            <a:r>
              <a:rPr lang="zh-CN" altLang="en-US" sz="2300" b="1" dirty="0"/>
              <a:t>的 </a:t>
            </a:r>
            <a:r>
              <a:rPr lang="en-US" altLang="zh-CN" sz="2300" b="1" dirty="0"/>
              <a:t>KV block </a:t>
            </a:r>
            <a:r>
              <a:rPr lang="zh-CN" altLang="en-US" sz="2300" b="1" dirty="0"/>
              <a:t>视角</a:t>
            </a:r>
            <a:r>
              <a:rPr lang="zh-CN" altLang="en-US" sz="2300" dirty="0"/>
              <a:t>：</a:t>
            </a:r>
            <a:endParaRPr lang="zh-CN" altLang="en-US" sz="2300" dirty="0"/>
          </a:p>
          <a:p>
            <a:pPr marL="177800" indent="0">
              <a:buNone/>
            </a:pPr>
            <a:r>
              <a:rPr lang="zh-CN" altLang="en-US" sz="2300" dirty="0"/>
              <a:t> 分配出来 → 被使用 → </a:t>
            </a:r>
            <a:r>
              <a:rPr lang="en-US" altLang="zh-CN" sz="2300" dirty="0"/>
              <a:t>ref_cnt </a:t>
            </a:r>
            <a:r>
              <a:rPr lang="zh-CN" altLang="en-US" sz="2300" dirty="0"/>
              <a:t>归零 → 进入 </a:t>
            </a:r>
            <a:r>
              <a:rPr lang="en-US" altLang="zh-CN" sz="2300" dirty="0"/>
              <a:t>free queue → </a:t>
            </a:r>
            <a:r>
              <a:rPr lang="zh-CN" altLang="en-US" sz="2300" dirty="0"/>
              <a:t>等 </a:t>
            </a:r>
            <a:r>
              <a:rPr lang="en-US" altLang="zh-CN" sz="2300" dirty="0"/>
              <a:t>LRU </a:t>
            </a:r>
            <a:r>
              <a:rPr lang="zh-CN" altLang="en-US" sz="2300" dirty="0"/>
              <a:t>驱逐</a:t>
            </a:r>
            <a:r>
              <a:rPr lang="en-US" altLang="zh-CN" sz="2300" dirty="0"/>
              <a:t>（block </a:t>
            </a:r>
            <a:r>
              <a:rPr lang="zh-CN" altLang="en-US" sz="2300" dirty="0"/>
              <a:t>被当作"用完即弃"的被动缓存页）</a:t>
            </a:r>
            <a:endParaRPr lang="zh-CN" altLang="en-US" sz="2300" dirty="0"/>
          </a:p>
        </p:txBody>
      </p:sp>
      <p:sp>
        <p:nvSpPr>
          <p:cNvPr id="28" name="任意多边形 27"/>
          <p:cNvSpPr/>
          <p:nvPr>
            <p:custDataLst>
              <p:tags r:id="rId2"/>
            </p:custDataLst>
          </p:nvPr>
        </p:nvSpPr>
        <p:spPr>
          <a:xfrm>
            <a:off x="761365" y="2952115"/>
            <a:ext cx="10349230" cy="2561590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8" name="文本占位符 2"/>
          <p:cNvSpPr>
            <a:spLocks noGrp="1"/>
          </p:cNvSpPr>
          <p:nvPr/>
        </p:nvSpPr>
        <p:spPr>
          <a:xfrm>
            <a:off x="648335" y="3084830"/>
            <a:ext cx="10735310" cy="2366645"/>
          </a:xfrm>
          <a:prstGeom prst="rect">
            <a:avLst/>
          </a:prstGeom>
        </p:spPr>
        <p:txBody>
          <a:bodyPr anchor="t">
            <a:no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en-US" altLang="zh-CN" sz="2300" b="1" dirty="0"/>
              <a:t>KVFabric </a:t>
            </a:r>
            <a:r>
              <a:rPr lang="zh-CN" altLang="en-US" sz="2300" b="1" dirty="0"/>
              <a:t>的 </a:t>
            </a:r>
            <a:r>
              <a:rPr lang="en-US" altLang="zh-CN" sz="2300" b="1" dirty="0"/>
              <a:t>KV block </a:t>
            </a:r>
            <a:r>
              <a:rPr lang="zh-CN" altLang="en-US" sz="2300" b="1" dirty="0"/>
              <a:t>视角</a:t>
            </a:r>
            <a:r>
              <a:rPr lang="zh-CN" altLang="en-US" sz="2300" dirty="0"/>
              <a:t>：</a:t>
            </a:r>
            <a:endParaRPr lang="zh-CN" altLang="en-US" sz="2300" dirty="0"/>
          </a:p>
          <a:p>
            <a:pPr marL="177800" indent="0">
              <a:buNone/>
            </a:pPr>
            <a:r>
              <a:rPr lang="en-US" altLang="zh-CN" sz="2300" dirty="0"/>
              <a:t>Create → Populate → Share → Fork → Cooling → Evict → (</a:t>
            </a:r>
            <a:r>
              <a:rPr lang="zh-CN" altLang="en-US" sz="2300" dirty="0"/>
              <a:t>可能) </a:t>
            </a:r>
            <a:r>
              <a:rPr lang="en-US" altLang="zh-CN" sz="2300" dirty="0"/>
              <a:t>Rebuild</a:t>
            </a:r>
            <a:endParaRPr lang="en-US" altLang="zh-CN" sz="2300" dirty="0"/>
          </a:p>
          <a:p>
            <a:pPr marL="177800" indent="0">
              <a:buNone/>
            </a:pPr>
            <a:r>
              <a:rPr lang="en-US" altLang="zh-CN" sz="2300" dirty="0"/>
              <a:t>  </a:t>
            </a:r>
            <a:r>
              <a:rPr lang="en-US" altLang="zh-CN" sz="2300" dirty="0"/>
              <a:t>  </a:t>
            </a:r>
            <a:endParaRPr lang="en-US" altLang="zh-CN" sz="2300" dirty="0"/>
          </a:p>
          <a:p>
            <a:pPr marL="177800" indent="0">
              <a:buNone/>
            </a:pPr>
            <a:r>
              <a:rPr lang="en-US" altLang="zh-CN" sz="2300" dirty="0"/>
              <a:t>（block </a:t>
            </a:r>
            <a:r>
              <a:rPr lang="zh-CN" altLang="en-US" sz="2300" dirty="0"/>
              <a:t>是具有状态、价值和历史的系统对象）</a:t>
            </a:r>
            <a:endParaRPr lang="zh-CN" altLang="en-US" sz="2300" dirty="0"/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91920" y="4022090"/>
            <a:ext cx="10160" cy="45720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412240" y="4458970"/>
            <a:ext cx="9072880" cy="2032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85120" y="3971290"/>
            <a:ext cx="0" cy="49784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占位符 2"/>
          <p:cNvSpPr>
            <a:spLocks noGrp="1"/>
          </p:cNvSpPr>
          <p:nvPr/>
        </p:nvSpPr>
        <p:spPr>
          <a:xfrm>
            <a:off x="7506970" y="4469130"/>
            <a:ext cx="3453765" cy="468630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zh-CN" altLang="en-US" sz="2000" dirty="0"/>
              <a:t>悔恨反馈（</a:t>
            </a:r>
            <a:r>
              <a:rPr lang="en-US" altLang="zh-CN" sz="2000" dirty="0"/>
              <a:t>regret_count）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缺乏统一的生命周期视角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占位符 2"/>
          <p:cNvSpPr>
            <a:spLocks noGrp="1"/>
          </p:cNvSpPr>
          <p:nvPr/>
        </p:nvSpPr>
        <p:spPr>
          <a:xfrm>
            <a:off x="476885" y="6021705"/>
            <a:ext cx="10483850" cy="8947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我们</a:t>
            </a:r>
            <a:r>
              <a:rPr lang="zh-CN" altLang="en-US" sz="2000" dirty="0"/>
              <a:t>要做的，是把每个 </a:t>
            </a:r>
            <a:r>
              <a:rPr lang="en-US" altLang="zh-CN" sz="2000" dirty="0"/>
              <a:t>KV block </a:t>
            </a:r>
            <a:r>
              <a:rPr lang="zh-CN" altLang="en-US" sz="2000" dirty="0"/>
              <a:t>变成一个可以被理解、被追踪、被合理决策的对象。</a:t>
            </a:r>
            <a:endParaRPr lang="zh-CN" altLang="en-US" sz="2000" dirty="0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49630" y="1245870"/>
          <a:ext cx="10111105" cy="4401820"/>
        </p:xfrm>
        <a:graphic>
          <a:graphicData uri="http://schemas.openxmlformats.org/drawingml/2006/table">
            <a:tbl>
              <a:tblPr/>
              <a:tblGrid>
                <a:gridCol w="1908175"/>
                <a:gridCol w="3552825"/>
                <a:gridCol w="4650105"/>
              </a:tblGrid>
              <a:tr h="725170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现有方法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KVFabric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元数据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ref_cnt, block_hash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+14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个生命周期字段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共享认知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知道被引用，不知道被谁引用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family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结构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分叉关系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驱逐依据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最近访问时间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多维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retain score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驱逐后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忘记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保留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shadow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，识别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regret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35330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观测能力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基本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metrics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JSONL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事件流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+ 20+ Prometheus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指标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7234555" cy="5232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这不是理论问题，有实际收益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占位符 2"/>
          <p:cNvSpPr>
            <a:spLocks noGrp="1"/>
          </p:cNvSpPr>
          <p:nvPr/>
        </p:nvSpPr>
        <p:spPr>
          <a:xfrm>
            <a:off x="446405" y="1159510"/>
            <a:ext cx="10148570" cy="894715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zh-CN" altLang="en-US" sz="2000" dirty="0"/>
              <a:t>四个可量化的收益方向：</a:t>
            </a:r>
            <a:endParaRPr lang="zh-CN" altLang="en-US" sz="2000" dirty="0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61035" y="1714500"/>
          <a:ext cx="10210800" cy="4455795"/>
        </p:xfrm>
        <a:graphic>
          <a:graphicData uri="http://schemas.openxmlformats.org/drawingml/2006/table">
            <a:tbl>
              <a:tblPr/>
              <a:tblGrid>
                <a:gridCol w="2397760"/>
                <a:gridCol w="3078480"/>
                <a:gridCol w="4734560"/>
              </a:tblGrid>
              <a:tr h="704215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收益方向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观测指标</a:t>
                      </a:r>
                      <a:endParaRPr lang="zh-CN" altLang="en-US" sz="1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37895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减少误驱逐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保护共享主干，避免高价值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被淘汰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eviction regret ↓, rebuilt-from-eviction ↓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937895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提升前缀命中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共享前缀保留更久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→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更多请求受益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prefix-hit tokens ↑, prefix hit rate ↑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937895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改善服务质量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减少重复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prefill →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更快响应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↓, E2E latency ↓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937895"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低开销退化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无共享场景不做无谓操作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策略关闭时 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= vLLM 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原生性能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6D6D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设计</a:t>
            </a:r>
            <a:r>
              <a:rPr lang="zh-CN" altLang="en-US" smtClean="0"/>
              <a:t>思想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7380" b="6306"/>
          <a:stretch>
            <a:fillRect/>
          </a:stretch>
        </p:blipFill>
        <p:spPr>
          <a:xfrm>
            <a:off x="144145" y="846455"/>
            <a:ext cx="9999345" cy="591947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760" y="229235"/>
            <a:ext cx="6381115" cy="6172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设计分层：三层架构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1000760" y="1033271"/>
            <a:ext cx="9875520" cy="1943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endParaRPr sz="1150" b="0">
              <a:solidFill>
                <a:srgbClr val="5D6F86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64563"/>
          <a:stretch>
            <a:fillRect/>
          </a:stretch>
        </p:blipFill>
        <p:spPr>
          <a:xfrm>
            <a:off x="786765" y="1033145"/>
            <a:ext cx="8765540" cy="12122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b="63386"/>
          <a:stretch>
            <a:fillRect/>
          </a:stretch>
        </p:blipFill>
        <p:spPr>
          <a:xfrm>
            <a:off x="706755" y="2771775"/>
            <a:ext cx="8845550" cy="11715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b="16638"/>
          <a:stretch>
            <a:fillRect/>
          </a:stretch>
        </p:blipFill>
        <p:spPr>
          <a:xfrm>
            <a:off x="706755" y="4469765"/>
            <a:ext cx="8845550" cy="1212215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897890" y="1165860"/>
            <a:ext cx="8653780" cy="45135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驱逐策略层 (</a:t>
            </a: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Policy)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利用下层提供的信息，做出比 </a:t>
            </a: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LRU 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更聪明的驱逐决策</a:t>
            </a: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共享结构管理层 (</a:t>
            </a: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Structure) 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Prefix Family Index — </a:t>
            </a:r>
            <a:r>
              <a:rPr lang="zh-CN" altLang="en-US" sz="2400">
                <a:solidFill>
                  <a:srgbClr val="10273D"/>
                </a:solidFill>
                <a:latin typeface="微软雅黑" panose="020B0503020204020204" pitchFamily="34" charset="-122"/>
                <a:sym typeface="+mn-ea"/>
              </a:rPr>
              <a:t>识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别共享主干和分叉关系，把零散的 </a:t>
            </a: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block hash 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组织成前缀树，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计算共享价值</a:t>
            </a: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9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sz="1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生命周期封装层 (</a:t>
            </a: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Tracking)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Side Table — 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给每个 </a:t>
            </a:r>
            <a:r>
              <a:rPr lang="en-US" altLang="zh-CN" sz="2400" b="0">
                <a:solidFill>
                  <a:srgbClr val="10273D"/>
                </a:solidFill>
                <a:latin typeface="微软雅黑" panose="020B0503020204020204" pitchFamily="34" charset="-122"/>
              </a:rPr>
              <a:t>block 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建立运行时「档案」，</a:t>
            </a:r>
            <a:r>
              <a:rPr lang="zh-CN" altLang="en-US" sz="2400" b="0">
                <a:solidFill>
                  <a:srgbClr val="10273D"/>
                </a:solidFill>
                <a:latin typeface="微软雅黑" panose="020B0503020204020204" pitchFamily="34" charset="-122"/>
              </a:rPr>
              <a:t>作为后续决策的依据</a:t>
            </a: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b="52247"/>
          <a:stretch>
            <a:fillRect/>
          </a:stretch>
        </p:blipFill>
        <p:spPr>
          <a:xfrm>
            <a:off x="1153160" y="6171565"/>
            <a:ext cx="7167880" cy="431800"/>
          </a:xfrm>
          <a:prstGeom prst="rect">
            <a:avLst/>
          </a:prstGeom>
        </p:spPr>
      </p:pic>
      <p:sp>
        <p:nvSpPr>
          <p:cNvPr id="12" name="TextBox 5"/>
          <p:cNvSpPr txBox="1"/>
          <p:nvPr/>
        </p:nvSpPr>
        <p:spPr>
          <a:xfrm>
            <a:off x="897890" y="6177280"/>
            <a:ext cx="8653780" cy="4044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VLLM</a:t>
            </a: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原生层（</a:t>
            </a: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不改动）</a:t>
            </a: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2470" y="476250"/>
            <a:ext cx="9538970" cy="6172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生命周期建模 — 从「被动缓存页」到「系统对象」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-505" t="9330" r="505" b="50000"/>
          <a:stretch>
            <a:fillRect/>
          </a:stretch>
        </p:blipFill>
        <p:spPr>
          <a:xfrm>
            <a:off x="147955" y="1160145"/>
            <a:ext cx="10175240" cy="5380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" y="1725930"/>
            <a:ext cx="3128645" cy="4237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1150"/>
            <a:ext cx="2839720" cy="42595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55" y="2859405"/>
            <a:ext cx="626745" cy="517525"/>
          </a:xfrm>
          <a:prstGeom prst="rect">
            <a:avLst/>
          </a:prstGeom>
        </p:spPr>
      </p:pic>
      <p:sp>
        <p:nvSpPr>
          <p:cNvPr id="8" name="TextBox 5"/>
          <p:cNvSpPr txBox="1"/>
          <p:nvPr/>
        </p:nvSpPr>
        <p:spPr>
          <a:xfrm>
            <a:off x="795020" y="1725930"/>
            <a:ext cx="4215765" cy="12280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vLLM </a:t>
            </a: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现有视角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"/>
          </p:nvPr>
        </p:nvSpPr>
        <p:spPr>
          <a:xfrm>
            <a:off x="365125" y="2315845"/>
            <a:ext cx="4304665" cy="3647440"/>
          </a:xfrm>
        </p:spPr>
        <p:txBody>
          <a:bodyPr>
            <a:normAutofit/>
          </a:bodyPr>
          <a:lstStyle/>
          <a:p>
            <a:pPr marL="177800" indent="0">
              <a:buNone/>
            </a:pPr>
            <a:r>
              <a:rPr lang="en-US" altLang="zh-CN" sz="2400" dirty="0"/>
              <a:t>  block = </a:t>
            </a:r>
            <a:r>
              <a:rPr lang="zh-CN" altLang="en-US" sz="2400" dirty="0"/>
              <a:t>一块显存</a:t>
            </a:r>
            <a:endParaRPr lang="zh-CN" altLang="en-US" sz="2400" dirty="0"/>
          </a:p>
          <a:p>
            <a:pPr marL="177800" indent="0">
              <a:buNone/>
            </a:pPr>
            <a:r>
              <a:rPr lang="zh-CN" altLang="en-US" sz="2400" dirty="0"/>
              <a:t>  只知道: </a:t>
            </a:r>
            <a:endParaRPr lang="zh-CN" altLang="en-US" sz="2400" dirty="0"/>
          </a:p>
          <a:p>
            <a:pPr marL="177800" indent="0">
              <a:buNone/>
            </a:pPr>
            <a:r>
              <a:rPr lang="en-US" altLang="zh-CN" sz="2400" dirty="0"/>
              <a:t>  - block_id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- ref_cnt  </a:t>
            </a:r>
            <a:endParaRPr lang="en-US" altLang="zh-CN" sz="2400" dirty="0"/>
          </a:p>
          <a:p>
            <a:pPr marL="177800" indent="0">
              <a:buNone/>
            </a:pPr>
            <a:r>
              <a:rPr lang="en-US" altLang="zh-CN" sz="2400" dirty="0"/>
              <a:t>  - block_hash</a:t>
            </a:r>
            <a:endParaRPr lang="en-US" altLang="zh-CN" sz="2400" dirty="0"/>
          </a:p>
          <a:p>
            <a:pPr marL="177800" indent="0">
              <a:buNone/>
            </a:pPr>
            <a:r>
              <a:rPr lang="zh-CN" altLang="en-US" sz="2400" dirty="0"/>
              <a:t>  - 最近被访问的时间</a:t>
            </a:r>
            <a:endParaRPr lang="zh-CN" altLang="en-US" sz="2400" dirty="0"/>
          </a:p>
        </p:txBody>
      </p:sp>
      <p:sp>
        <p:nvSpPr>
          <p:cNvPr id="11" name="TextBox 5"/>
          <p:cNvSpPr txBox="1"/>
          <p:nvPr/>
        </p:nvSpPr>
        <p:spPr>
          <a:xfrm>
            <a:off x="6096000" y="1837055"/>
            <a:ext cx="4215765" cy="12280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alt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KVFabric </a:t>
            </a:r>
            <a:r>
              <a:rPr lang="zh-CN" altLang="en-US" sz="2400" b="1">
                <a:solidFill>
                  <a:srgbClr val="003B66"/>
                </a:solidFill>
                <a:latin typeface="微软雅黑" panose="020B0503020204020204" pitchFamily="34" charset="-122"/>
              </a:rPr>
              <a:t>视角</a:t>
            </a:r>
            <a:r>
              <a:rPr lang="zh-CN" sz="2400" b="1">
                <a:solidFill>
                  <a:srgbClr val="003B66"/>
                </a:solidFill>
                <a:latin typeface="微软雅黑" panose="020B0503020204020204" pitchFamily="34" charset="-122"/>
              </a:rPr>
              <a:t>：</a:t>
            </a:r>
            <a:endParaRPr sz="2400" b="1">
              <a:solidFill>
                <a:srgbClr val="003B6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8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endParaRPr lang="zh-CN" altLang="en-US" sz="2400" b="0">
              <a:solidFill>
                <a:srgbClr val="10273D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文本占位符 9"/>
          <p:cNvSpPr>
            <a:spLocks noGrp="1"/>
          </p:cNvSpPr>
          <p:nvPr/>
        </p:nvSpPr>
        <p:spPr>
          <a:xfrm>
            <a:off x="5740400" y="2315845"/>
            <a:ext cx="4304665" cy="4377690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3600" kern="1200" spc="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0">
              <a:buNone/>
            </a:pPr>
            <a:r>
              <a:rPr lang="en-US" altLang="zh-CN" sz="2000" dirty="0"/>
              <a:t>  block = </a:t>
            </a:r>
            <a:r>
              <a:rPr lang="zh-CN" altLang="en-US" sz="2000" dirty="0"/>
              <a:t>一个有生命周期的系统对象</a:t>
            </a:r>
            <a:endParaRPr lang="zh-CN" altLang="en-US" sz="2000" dirty="0"/>
          </a:p>
          <a:p>
            <a:pPr marL="177800" indent="0">
              <a:buNone/>
            </a:pPr>
            <a:r>
              <a:rPr lang="zh-CN" altLang="en-US" sz="2000" dirty="0"/>
              <a:t>  知道: </a:t>
            </a:r>
            <a:endParaRPr lang="zh-CN" altLang="en-US" sz="2000" dirty="0"/>
          </a:p>
          <a:p>
            <a:pPr marL="177800" indent="0">
              <a:buNone/>
            </a:pPr>
            <a:r>
              <a:rPr lang="en-US" altLang="zh-CN" sz="2000" dirty="0"/>
              <a:t>  </a:t>
            </a:r>
            <a:r>
              <a:rPr lang="zh-CN" altLang="en-US" sz="2000" dirty="0"/>
              <a:t>- 它被谁创建、何时创建</a:t>
            </a:r>
            <a:endParaRPr lang="zh-CN" altLang="en-US" sz="2000" dirty="0"/>
          </a:p>
          <a:p>
            <a:pPr marL="177800" indent="0">
              <a:buNone/>
            </a:pPr>
            <a:r>
              <a:rPr lang="zh-CN" altLang="en-US" sz="2000" dirty="0"/>
              <a:t>  - 被多少个请求共享过</a:t>
            </a:r>
            <a:endParaRPr lang="zh-CN" altLang="en-US" sz="2000" dirty="0"/>
          </a:p>
          <a:p>
            <a:pPr marL="177800" indent="0">
              <a:buNone/>
            </a:pPr>
            <a:r>
              <a:rPr lang="zh-CN" altLang="en-US" sz="2000" dirty="0"/>
              <a:t> </a:t>
            </a:r>
            <a:r>
              <a:rPr lang="en-US" altLang="zh-CN" sz="2000" dirty="0"/>
              <a:t> </a:t>
            </a:r>
            <a:r>
              <a:rPr lang="zh-CN" altLang="en-US" sz="2000" dirty="0"/>
              <a:t>- 在共享前缀树的哪个位置</a:t>
            </a:r>
            <a:endParaRPr lang="zh-CN" altLang="en-US" sz="2000" dirty="0"/>
          </a:p>
          <a:p>
            <a:pPr marL="177800" indent="0">
              <a:buNone/>
            </a:pPr>
            <a:r>
              <a:rPr lang="zh-CN" altLang="en-US" sz="2000" dirty="0"/>
              <a:t>  - 驱逐后曾被迫重建</a:t>
            </a:r>
            <a:r>
              <a:rPr lang="en-US" altLang="zh-CN" sz="2000" dirty="0"/>
              <a:t>(</a:t>
            </a:r>
            <a:r>
              <a:rPr lang="zh-CN" altLang="en-US" sz="2000" dirty="0"/>
              <a:t>后悔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marL="177800" indent="0">
              <a:buNone/>
            </a:pPr>
            <a:r>
              <a:rPr lang="zh-CN" altLang="en-US" sz="2000" dirty="0"/>
              <a:t>  - 有多少分支从它身上长出来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2950" y="212725"/>
            <a:ext cx="4878070" cy="46291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lang="en-US" altLang="zh-CN" sz="3200" b="1">
                <a:solidFill>
                  <a:srgbClr val="003B66"/>
                </a:solidFill>
                <a:latin typeface="微软雅黑" panose="020B0503020204020204" pitchFamily="34" charset="-122"/>
              </a:rPr>
              <a:t>KV Block </a:t>
            </a:r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生命周期</a:t>
            </a:r>
            <a:r>
              <a:rPr lang="zh-CN" altLang="en-US" sz="3200" b="1">
                <a:solidFill>
                  <a:srgbClr val="003B66"/>
                </a:solidFill>
                <a:latin typeface="微软雅黑" panose="020B0503020204020204" pitchFamily="34" charset="-122"/>
              </a:rPr>
              <a:t>状态机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00507" y="748665"/>
            <a:ext cx="9418320" cy="522838"/>
          </a:xfrm>
        </p:spPr>
        <p:txBody>
          <a:bodyPr>
            <a:normAutofit/>
          </a:bodyPr>
          <a:lstStyle/>
          <a:p>
            <a:pPr marL="177800" indent="0">
              <a:buNone/>
            </a:pPr>
            <a:r>
              <a:rPr lang="zh-CN" altLang="en-US" sz="1800" dirty="0"/>
              <a:t>一个</a:t>
            </a:r>
            <a:r>
              <a:rPr lang="en-US" altLang="zh-CN" sz="1800" dirty="0"/>
              <a:t>block</a:t>
            </a:r>
            <a:r>
              <a:rPr lang="zh-CN" altLang="en-US" sz="1800" dirty="0"/>
              <a:t>从创建到回收（以及可能的复活）的完整旅程</a:t>
            </a:r>
            <a:endParaRPr lang="zh-CN" altLang="en-US" sz="18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44295"/>
            <a:ext cx="11542395" cy="520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5500" y="408305"/>
            <a:ext cx="9095740" cy="52705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/>
            <a:r>
              <a:rPr sz="3200" b="1">
                <a:solidFill>
                  <a:srgbClr val="003B66"/>
                </a:solidFill>
                <a:latin typeface="微软雅黑" panose="020B0503020204020204" pitchFamily="34" charset="-122"/>
                <a:sym typeface="+mn-ea"/>
              </a:rPr>
              <a:t>整体算法原理图：请求、缓存、策略与反馈闭环</a:t>
            </a:r>
            <a:endParaRPr lang="zh-CN" altLang="en-US" sz="3200" b="1">
              <a:solidFill>
                <a:srgbClr val="003B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987552" y="1091692"/>
            <a:ext cx="9966960" cy="248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endParaRPr sz="1150" b="0">
              <a:solidFill>
                <a:srgbClr val="5D6F86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图片 6" descr="kvfabric_lifecycle_overall_diagram"/>
          <p:cNvPicPr>
            <a:picLocks noChangeAspect="1"/>
          </p:cNvPicPr>
          <p:nvPr/>
        </p:nvPicPr>
        <p:blipFill>
          <a:blip r:embed="rId1"/>
          <a:srcRect l="2892" t="6342" r="4222" b="3696"/>
          <a:stretch>
            <a:fillRect/>
          </a:stretch>
        </p:blipFill>
        <p:spPr>
          <a:xfrm>
            <a:off x="551180" y="1091565"/>
            <a:ext cx="10499725" cy="5085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736*416"/>
  <p:tag name="TABLE_ENDDRAG_RECT" val="58*89*736*416"/>
</p:tagLst>
</file>

<file path=ppt/tags/tag2.xml><?xml version="1.0" encoding="utf-8"?>
<p:tagLst xmlns:p="http://schemas.openxmlformats.org/presentationml/2006/main">
  <p:tag name="TABLE_ENDDRAG_ORIGIN_RECT" val="771*409"/>
  <p:tag name="TABLE_ENDDRAG_RECT" val="67*102*771*409"/>
</p:tagLst>
</file>

<file path=ppt/tags/tag3.xml><?xml version="1.0" encoding="utf-8"?>
<p:tagLst xmlns:p="http://schemas.openxmlformats.org/presentationml/2006/main">
  <p:tag name="TABLE_ENDDRAG_ORIGIN_RECT" val="790*435"/>
  <p:tag name="TABLE_ENDDRAG_RECT" val="53*82*790*435"/>
</p:tagLst>
</file>

<file path=ppt/tags/tag4.xml><?xml version="1.0" encoding="utf-8"?>
<p:tagLst xmlns:p="http://schemas.openxmlformats.org/presentationml/2006/main">
  <p:tag name="TABLE_ENDDRAG_ORIGIN_RECT" val="702*388"/>
  <p:tag name="TABLE_ENDDRAG_RECT" val="64*97*702*388"/>
</p:tagLst>
</file>

<file path=ppt/tags/tag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TABLE_ENDDRAG_ORIGIN_RECT" val="759*347"/>
  <p:tag name="TABLE_ENDDRAG_RECT" val="60*103*760*347"/>
</p:tagLst>
</file>

<file path=ppt/tags/tag8.xml><?xml version="1.0" encoding="utf-8"?>
<p:tagLst xmlns:p="http://schemas.openxmlformats.org/presentationml/2006/main">
  <p:tag name="TABLE_ENDDRAG_ORIGIN_RECT" val="803*369"/>
  <p:tag name="TABLE_ENDDRAG_RECT" val="52*135*803*369"/>
</p:tagLst>
</file>

<file path=ppt/theme/theme1.xml><?xml version="1.0" encoding="utf-8"?>
<a:theme xmlns:a="http://schemas.openxmlformats.org/drawingml/2006/main" name="View">
  <a:themeElements>
    <a:clrScheme name="自定义 1">
      <a:dk1>
        <a:srgbClr val="3F3F3F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 bold"/>
        <a:ea typeface="微软雅黑 bold"/>
        <a:cs typeface=""/>
      </a:majorFont>
      <a:minorFont>
        <a:latin typeface="微软雅黑"/>
        <a:ea typeface="微软雅黑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4581</Words>
  <Application>WPS 演示</Application>
  <PresentationFormat>宽屏</PresentationFormat>
  <Paragraphs>515</Paragraphs>
  <Slides>26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Arial</vt:lpstr>
      <vt:lpstr>宋体</vt:lpstr>
      <vt:lpstr>Wingdings</vt:lpstr>
      <vt:lpstr>Wingdings 2</vt:lpstr>
      <vt:lpstr>微软雅黑</vt:lpstr>
      <vt:lpstr>微软雅黑 bold</vt:lpstr>
      <vt:lpstr>黑体</vt:lpstr>
      <vt:lpstr>Arial Unicode MS</vt:lpstr>
      <vt:lpstr>等线</vt:lpstr>
      <vt:lpstr>Helvetica Neue</vt:lpstr>
      <vt:lpstr>KSOFF895EEBB</vt:lpstr>
      <vt:lpstr>Segoe Print</vt:lpstr>
      <vt:lpstr>KSOFF8957A5C</vt:lpstr>
      <vt:lpstr>Calibri</vt:lpstr>
      <vt:lpstr>Helvetica Neue</vt:lpstr>
      <vt:lpstr>View</vt:lpstr>
      <vt:lpstr>KVFabric：面向 LLM 推理服务的KV Cache 生命周期管理</vt:lpstr>
      <vt:lpstr>设计背景</vt:lpstr>
      <vt:lpstr>LLM 推理的两个阶段：Prefill 与 Decode</vt:lpstr>
      <vt:lpstr>KV Cache 是什么？为什么它这么重要？</vt:lpstr>
      <vt:lpstr>KV Cache的显存规模，为什么管理很重要？</vt:lpstr>
      <vt:lpstr>PowerPoint 演示文稿</vt:lpstr>
      <vt:lpstr>分配、复用、驱逐：三者的耦合关系</vt:lpstr>
      <vt:lpstr>现有方案为什么不够？</vt:lpstr>
      <vt:lpstr>我们要解决的问题：在 LLM 推理服务中，能否将 KV Cache 视作具有完整生命周期的对象，统一管理其分配、复用和驱逐，从而减少共享主干的误驱逐、降低重复 prefill 计算、提升缓存利用率？</vt:lpstr>
      <vt:lpstr>小节标题</vt:lpstr>
      <vt:lpstr>PowerPoint 演示文稿</vt:lpstr>
      <vt:lpstr>PowerPoint 演示文稿</vt:lpstr>
      <vt:lpstr>PowerPoint 演示文稿</vt:lpstr>
      <vt:lpstr>PowerPoint 演示文稿</vt:lpstr>
      <vt:lpstr>全生命周期管理设计</vt:lpstr>
      <vt:lpstr>相关工作及空白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为什么要做优化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教务处PPT模板002</dc:title>
  <dc:creator>现代教育技术中心</dc:creator>
  <cp:lastModifiedBy>落蝉</cp:lastModifiedBy>
  <cp:revision>157</cp:revision>
  <dcterms:created xsi:type="dcterms:W3CDTF">2019-09-09T14:12:00Z</dcterms:created>
  <dcterms:modified xsi:type="dcterms:W3CDTF">2026-06-30T07:02:54Z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3B8D502058B44470B19F9DE2A162F954_12</vt:lpwstr>
  </property>
</Properties>
</file>